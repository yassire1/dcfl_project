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152251"/>
            <a:ext cx="80313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 d'avancement de thèse — Première année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34901" y="441127"/>
            <a:ext cx="8031379" cy="1287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 Time Series Foundation Models pour la Maintenance Prédictive Industrielle Multi-Domaine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34901" y="2439591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Doctorant 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39901" y="2439591"/>
            <a:ext cx="11845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Yassire AMMOURI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4901" y="2909292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Directeur de thèse 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39901" y="2909292"/>
            <a:ext cx="14887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Pr. Younes Karfa Bakali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4901" y="3378994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Encadrant 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39901" y="3378994"/>
            <a:ext cx="11399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Mme Rajaa SAIDI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4901" y="3848695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Laboratoire 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39901" y="3848695"/>
            <a:ext cx="25331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LRIT — Université Mohammed V, Rabat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4901" y="4318397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Financement 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39901" y="4318397"/>
            <a:ext cx="21111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Bourse Doctorant Moniteur PASS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4901" y="4788098"/>
            <a:ext cx="1943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39901" y="4788098"/>
            <a:ext cx="6729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 2026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62000" y="4421386"/>
            <a:ext cx="7620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2000" y="4641949"/>
            <a:ext cx="77724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Mohammed V — Faculté des Sciences de Rabat — LRIT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507950"/>
            <a:ext cx="777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 — CONTEXTE GÉNÉRAL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2000" y="711101"/>
            <a:ext cx="7772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26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L'évolution de la maintenance industrielle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41400" y="1463576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572344" y="1541413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4855" y="1920627"/>
            <a:ext cx="17487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4855" y="2123777"/>
            <a:ext cx="174879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répare après la panne — coûts élevés, arrêts non planifiés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89150" y="1539776"/>
            <a:ext cx="233172" cy="835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09950" y="1463576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40893" y="1541413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13405" y="1920627"/>
            <a:ext cx="17487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Préventive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13405" y="2123777"/>
            <a:ext cx="174879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planifiée à intervalles fixes — gaspillage de ressources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57700" y="1539776"/>
            <a:ext cx="233172" cy="835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78351" y="1463576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09294" y="1541413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81805" y="1920627"/>
            <a:ext cx="17487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Prédictive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81805" y="2123777"/>
            <a:ext cx="174879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Anticipation par les données capteurs — on intervient juste avant la panne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26250" y="1539776"/>
            <a:ext cx="233172" cy="835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46900" y="1463576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477844" y="1541413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50355" y="1920627"/>
            <a:ext cx="17487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Prescriptive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50355" y="2123777"/>
            <a:ext cx="174879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L'IA recommande automatiquement l'action optimale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62000" y="2984748"/>
            <a:ext cx="1752600" cy="1324124"/>
          </a:xfrm>
          <a:prstGeom prst="roundRect">
            <a:avLst>
              <a:gd name="adj" fmla="val 575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25729" y="3162449"/>
            <a:ext cx="142514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25729" y="3537049"/>
            <a:ext cx="1425142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pannes annoncées</a:t>
            </a:r>
            <a:endParaRPr lang="en-US" sz="900" dirty="0"/>
          </a:p>
          <a:p>
            <a:pPr algn="ctr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des signaux dans les données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17750" y="2984748"/>
            <a:ext cx="1752749" cy="1324124"/>
          </a:xfrm>
          <a:prstGeom prst="roundRect">
            <a:avLst>
              <a:gd name="adj" fmla="val 575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881478" y="3162449"/>
            <a:ext cx="142529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2881478" y="3537049"/>
            <a:ext cx="1425294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réduction des coûts</a:t>
            </a:r>
            <a:endParaRPr lang="en-US" sz="900" dirty="0"/>
          </a:p>
          <a:p>
            <a:pPr algn="ctr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maintenance (McKinsey 2023)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73650" y="2984748"/>
            <a:ext cx="1752600" cy="1324124"/>
          </a:xfrm>
          <a:prstGeom prst="roundRect">
            <a:avLst>
              <a:gd name="adj" fmla="val 575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37378" y="3162449"/>
            <a:ext cx="142514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630M$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837378" y="3537049"/>
            <a:ext cx="1425142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 mondial de la</a:t>
            </a:r>
            <a:endParaRPr lang="en-US" sz="900" dirty="0"/>
          </a:p>
          <a:p>
            <a:pPr algn="ctr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prédictive en 2028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629400" y="2984748"/>
            <a:ext cx="1752600" cy="1324124"/>
          </a:xfrm>
          <a:prstGeom prst="roundRect">
            <a:avLst>
              <a:gd name="adj" fmla="val 575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793129" y="3162449"/>
            <a:ext cx="142514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×3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793129" y="3537049"/>
            <a:ext cx="1425142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croissance des déploiements</a:t>
            </a:r>
            <a:endParaRPr lang="en-US" sz="900" dirty="0"/>
          </a:p>
          <a:p>
            <a:pPr algn="ctr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 en industrie (2022–2024)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62000" y="4497437"/>
            <a:ext cx="7620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2000" y="4692700"/>
            <a:ext cx="26427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 d'avancement de thèse — Y. AMMOURI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06301"/>
            <a:ext cx="80313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 — CONTEXTE GÉNÉRAL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34901" y="599926"/>
            <a:ext cx="8031379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problème central : des données précieuses mais inaccessibles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34901" y="1993553"/>
            <a:ext cx="3810000" cy="0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4901" y="1476226"/>
            <a:ext cx="3886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les données ne peuvent pas être centralisées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256979"/>
            <a:ext cx="1554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4A9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3501" y="2130028"/>
            <a:ext cx="3020154" cy="39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Confidentialité industrielle et concurrence entre opérateurs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34901" y="2729954"/>
            <a:ext cx="1554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4A9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3501" y="2603004"/>
            <a:ext cx="3570750" cy="39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Réglementations RGPD et contraintes sectorielles (énergie, défense)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4901" y="3202930"/>
            <a:ext cx="1554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4A9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3501" y="3075980"/>
            <a:ext cx="3408774" cy="39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massif des données capteurs — transfert réseau prohibitif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34901" y="3675906"/>
            <a:ext cx="1554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4A9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3501" y="3548955"/>
            <a:ext cx="2890209" cy="39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Hétérogénéité des formats et des architectures système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98802" y="1822103"/>
            <a:ext cx="3810000" cy="0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98802" y="1476226"/>
            <a:ext cx="3886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réalité du terrain multi-domaine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98802" y="2085529"/>
            <a:ext cx="1554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4A9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27402" y="1958578"/>
            <a:ext cx="3165280" cy="39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parc éolien ≠ un système HVAC ≠ une ligne de production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98802" y="2558504"/>
            <a:ext cx="1554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4A9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27402" y="2431554"/>
            <a:ext cx="2948958" cy="39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domaine a ses propres signatures de défaillance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98802" y="3031480"/>
            <a:ext cx="1554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4A9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27402" y="2904530"/>
            <a:ext cx="3653028" cy="39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modèles entraînés sur un domaine ne se généralisent pas directement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98802" y="3504456"/>
            <a:ext cx="1554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4A9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27402" y="3377505"/>
            <a:ext cx="3314807" cy="39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Besoin : une solution capable d'apprendre de tous sans tout voir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4901" y="4174331"/>
            <a:ext cx="7873901" cy="449461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53951" y="4174331"/>
            <a:ext cx="0" cy="449461"/>
          </a:xfrm>
          <a:prstGeom prst="line">
            <a:avLst/>
          </a:prstGeom>
          <a:noFill/>
          <a:ln w="38100">
            <a:solidFill>
              <a:srgbClr val="2D2D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5401" y="4301282"/>
            <a:ext cx="7681621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i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entraîner de bons modèles sans jamais voir les données brutes des autres ?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62000" y="4497437"/>
            <a:ext cx="7620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2000" y="4692700"/>
            <a:ext cx="26427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 d'avancement de thèse — Y. AMMOURI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06301"/>
            <a:ext cx="80313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 — Contexte Général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34901" y="609451"/>
            <a:ext cx="803137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Positionnement de la thèse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650802" y="1165027"/>
            <a:ext cx="1521172" cy="618827"/>
          </a:xfrm>
          <a:prstGeom prst="roundRect">
            <a:avLst>
              <a:gd name="adj" fmla="val 16418"/>
            </a:avLst>
          </a:prstGeom>
          <a:solidFill>
            <a:srgbClr val="F5F5F5"/>
          </a:solidFill>
          <a:ln w="19050">
            <a:solidFill>
              <a:srgbClr val="2D2D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810469" y="1285577"/>
            <a:ext cx="12018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 Learning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10469" y="1453753"/>
            <a:ext cx="120183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Apprentissage distribué</a:t>
            </a:r>
            <a:endParaRPr lang="en-US" sz="75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restent locales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240387" y="1165027"/>
            <a:ext cx="2252514" cy="618827"/>
          </a:xfrm>
          <a:prstGeom prst="roundRect">
            <a:avLst>
              <a:gd name="adj" fmla="val 16418"/>
            </a:avLst>
          </a:prstGeom>
          <a:solidFill>
            <a:srgbClr val="F5F5F5"/>
          </a:solidFill>
          <a:ln w="19050">
            <a:solidFill>
              <a:srgbClr val="2D2D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392741" y="1285577"/>
            <a:ext cx="19478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Series Foundation Models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92741" y="1453753"/>
            <a:ext cx="19478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Modèles pré-entraînés</a:t>
            </a:r>
            <a:endParaRPr lang="en-US" sz="75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zero/few-shot adaptation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239765" y="2301925"/>
            <a:ext cx="2664172" cy="514052"/>
          </a:xfrm>
          <a:prstGeom prst="roundRect">
            <a:avLst>
              <a:gd name="adj" fmla="val 19765"/>
            </a:avLst>
          </a:prstGeom>
          <a:solidFill>
            <a:srgbClr val="2D2D2D"/>
          </a:solidFill>
          <a:ln w="19050">
            <a:solidFill>
              <a:srgbClr val="2D2D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88002" y="2422475"/>
            <a:ext cx="2367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Prédictive Multi-Domaine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8002" y="2590651"/>
            <a:ext cx="236769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Éolien + HVAC + Manufacture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34901" y="2993678"/>
            <a:ext cx="7873901" cy="819596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53951" y="2993678"/>
            <a:ext cx="0" cy="819596"/>
          </a:xfrm>
          <a:prstGeom prst="line">
            <a:avLst/>
          </a:prstGeom>
          <a:noFill/>
          <a:ln w="38100">
            <a:solidFill>
              <a:srgbClr val="2D2D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702" y="3120628"/>
            <a:ext cx="7630007" cy="56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Développer un framework basé sur des Foundation Models entraînés de façon fédérée sur des séries temporelles industrielles hétérogènes, capable de s'adapter à plusieurs domaines avec un minimum de personnalisation.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4901" y="3990975"/>
            <a:ext cx="3886200" cy="525512"/>
          </a:xfrm>
          <a:prstGeom prst="roundRect">
            <a:avLst>
              <a:gd name="adj" fmla="val 14500"/>
            </a:avLst>
          </a:prstGeom>
          <a:solidFill>
            <a:srgbClr val="FAFAF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71376" y="4102001"/>
            <a:ext cx="36855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4A9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seul modèle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1376" y="4273451"/>
            <a:ext cx="368551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N domaines industriels différents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22602" y="3990975"/>
            <a:ext cx="3886200" cy="525512"/>
          </a:xfrm>
          <a:prstGeom prst="roundRect">
            <a:avLst>
              <a:gd name="adj" fmla="val 14500"/>
            </a:avLst>
          </a:prstGeom>
          <a:solidFill>
            <a:srgbClr val="FAFAF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59077" y="4102001"/>
            <a:ext cx="36855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4A9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locales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9077" y="4273451"/>
            <a:ext cx="368551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donnée brute ne quitte les sites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34901" y="4617988"/>
            <a:ext cx="3886200" cy="525512"/>
          </a:xfrm>
          <a:prstGeom prst="roundRect">
            <a:avLst>
              <a:gd name="adj" fmla="val 14500"/>
            </a:avLst>
          </a:prstGeom>
          <a:solidFill>
            <a:srgbClr val="FAFAF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71376" y="4729014"/>
            <a:ext cx="36855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4A9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Personnalisation légère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1376" y="4900464"/>
            <a:ext cx="368551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local minimal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22602" y="4617988"/>
            <a:ext cx="3886200" cy="525512"/>
          </a:xfrm>
          <a:prstGeom prst="roundRect">
            <a:avLst>
              <a:gd name="adj" fmla="val 14500"/>
            </a:avLst>
          </a:prstGeom>
          <a:solidFill>
            <a:srgbClr val="FAFAF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59077" y="4729014"/>
            <a:ext cx="36855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4A90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Généralisation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9077" y="4900464"/>
            <a:ext cx="368551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Cross-domaine via pré-entraînement fédéré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34901" y="4726037"/>
            <a:ext cx="78741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507950"/>
            <a:ext cx="777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 — Concepts de base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2000" y="711101"/>
            <a:ext cx="7772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2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 Learning &amp; Maintenance Prédictive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62000" y="1653927"/>
            <a:ext cx="3619500" cy="0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2000" y="1380976"/>
            <a:ext cx="36918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 Learning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2000" y="1815852"/>
            <a:ext cx="36918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2000" y="1984028"/>
            <a:ext cx="3691890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client entraîne localement, seuls les poids sont envoyés au serveur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2000" y="2382589"/>
            <a:ext cx="36918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Agrégation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62000" y="2550765"/>
            <a:ext cx="3691890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serveur agrège (FedAvg, FedProx) → modèle global amélioré redistribué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2000" y="2949327"/>
            <a:ext cx="36918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 majeur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2000" y="3117503"/>
            <a:ext cx="369189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Hétérogénéité des données (non-IID) entre clients industriels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2000" y="3367534"/>
            <a:ext cx="3619500" cy="909638"/>
          </a:xfrm>
          <a:prstGeom prst="roundRect">
            <a:avLst>
              <a:gd name="adj" fmla="val 837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14400" y="3494484"/>
            <a:ext cx="33809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FedProx — algorithme de référence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3688110"/>
            <a:ext cx="338099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de FedAvg avec terme de proximalité μ‖w − wᵗ‖²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3836640"/>
            <a:ext cx="338099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la divergence locale sous hétérogénéité non-IID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4035921"/>
            <a:ext cx="33809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 : sensibilité au paramètre μ, coût computationnel plus élevé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62500" y="1653927"/>
            <a:ext cx="3619500" cy="0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62500" y="1380976"/>
            <a:ext cx="36918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Prédictive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62500" y="1815852"/>
            <a:ext cx="36918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62500" y="1984028"/>
            <a:ext cx="369189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Anticiper l'état futur d'un équipement via les données capteurs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62500" y="2234059"/>
            <a:ext cx="36918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Avantage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62500" y="2402235"/>
            <a:ext cx="3691890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 au bon moment — ni trop tôt, ni trop tard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62500" y="2652266"/>
            <a:ext cx="36918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Tâches principales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62500" y="2922091"/>
            <a:ext cx="804863" cy="419100"/>
          </a:xfrm>
          <a:prstGeom prst="roundRect">
            <a:avLst>
              <a:gd name="adj" fmla="val 12121"/>
            </a:avLst>
          </a:prstGeom>
          <a:solidFill>
            <a:srgbClr val="FAFAF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67698" y="3007816"/>
            <a:ext cx="5944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d'anomalies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668863" y="2922091"/>
            <a:ext cx="901303" cy="419100"/>
          </a:xfrm>
          <a:prstGeom prst="roundRect">
            <a:avLst>
              <a:gd name="adj" fmla="val 12121"/>
            </a:avLst>
          </a:prstGeom>
          <a:solidFill>
            <a:srgbClr val="FAFAFA"/>
          </a:solidFill>
          <a:ln w="19050">
            <a:solidFill>
              <a:srgbClr val="2D2D2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782812" y="3017341"/>
            <a:ext cx="6734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défaillances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671667" y="2922091"/>
            <a:ext cx="804416" cy="419100"/>
          </a:xfrm>
          <a:prstGeom prst="roundRect">
            <a:avLst>
              <a:gd name="adj" fmla="val 12121"/>
            </a:avLst>
          </a:prstGeom>
          <a:solidFill>
            <a:srgbClr val="FAFAF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776869" y="3007816"/>
            <a:ext cx="594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577584" y="2922091"/>
            <a:ext cx="804416" cy="419100"/>
          </a:xfrm>
          <a:prstGeom prst="roundRect">
            <a:avLst>
              <a:gd name="adj" fmla="val 12121"/>
            </a:avLst>
          </a:prstGeom>
          <a:solidFill>
            <a:srgbClr val="FAFAF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682786" y="3007816"/>
            <a:ext cx="594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Prévision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état santé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26305" y="3417391"/>
            <a:ext cx="36918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Tâche principale de la thèse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62000" y="4726037"/>
            <a:ext cx="7620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06301"/>
            <a:ext cx="80313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 — Concepts de base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34901" y="587276"/>
            <a:ext cx="803137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des Séries Temporelles Industrielles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34901" y="1114276"/>
            <a:ext cx="1873151" cy="573584"/>
          </a:xfrm>
          <a:prstGeom prst="roundRect">
            <a:avLst>
              <a:gd name="adj" fmla="val 132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9700" y="1215777"/>
            <a:ext cx="17035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Multivariées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19700" y="1355378"/>
            <a:ext cx="1703552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Dizaines à centaines de capteurs simultanés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635002" y="1114276"/>
            <a:ext cx="1873300" cy="573584"/>
          </a:xfrm>
          <a:prstGeom prst="roundRect">
            <a:avLst>
              <a:gd name="adj" fmla="val 132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719800" y="1215777"/>
            <a:ext cx="17037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Non-stationnaires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19800" y="1355378"/>
            <a:ext cx="1703704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 opérationnelles changeantes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635252" y="1114276"/>
            <a:ext cx="1873300" cy="573584"/>
          </a:xfrm>
          <a:prstGeom prst="roundRect">
            <a:avLst>
              <a:gd name="adj" fmla="val 132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20050" y="1215777"/>
            <a:ext cx="17037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Déséquilibrées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20050" y="1355378"/>
            <a:ext cx="1703704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pannes sont des événements rares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635502" y="1114276"/>
            <a:ext cx="1873300" cy="573584"/>
          </a:xfrm>
          <a:prstGeom prst="roundRect">
            <a:avLst>
              <a:gd name="adj" fmla="val 132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720300" y="1215777"/>
            <a:ext cx="170370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Bruitées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20300" y="1355378"/>
            <a:ext cx="1703704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Valeurs manquantes, drifts capteurs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34901" y="2313236"/>
            <a:ext cx="7873901" cy="0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901" y="2005310"/>
            <a:ext cx="16839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5851" y="2005310"/>
            <a:ext cx="63474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en contexte fédéré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34901" y="2790974"/>
            <a:ext cx="78739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4901" y="2487811"/>
            <a:ext cx="16839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Non-IID inter-clients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285851" y="2475012"/>
            <a:ext cx="6347409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Distributions différentes selon les sites industriels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34901" y="3263950"/>
            <a:ext cx="78739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4901" y="2960787"/>
            <a:ext cx="16839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Longueurs variables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285851" y="2947988"/>
            <a:ext cx="6347409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Difficile à harmoniser sans centralisation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34901" y="3736925"/>
            <a:ext cx="78739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901" y="3433763"/>
            <a:ext cx="16839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Timestamps désynchronisés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85851" y="3420963"/>
            <a:ext cx="6347409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Agrégation temporelle complexe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34901" y="4209901"/>
            <a:ext cx="78739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4901" y="3906738"/>
            <a:ext cx="16839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drift local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285851" y="3893939"/>
            <a:ext cx="6347409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site peut « évolue » sans que les autres le sachent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34901" y="4367064"/>
            <a:ext cx="80313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Approches classiques :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4901" y="4538514"/>
            <a:ext cx="1892350" cy="260152"/>
          </a:xfrm>
          <a:prstGeom prst="roundRect">
            <a:avLst>
              <a:gd name="adj" fmla="val 19527"/>
            </a:avLst>
          </a:prstGeom>
          <a:solidFill>
            <a:srgbClr val="FAFAF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03417" y="4611439"/>
            <a:ext cx="17553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628751" y="4538514"/>
            <a:ext cx="1892350" cy="260152"/>
          </a:xfrm>
          <a:prstGeom prst="roundRect">
            <a:avLst>
              <a:gd name="adj" fmla="val 19527"/>
            </a:avLst>
          </a:prstGeom>
          <a:solidFill>
            <a:srgbClr val="FAFAF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697267" y="4611439"/>
            <a:ext cx="17553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622602" y="4538514"/>
            <a:ext cx="1892350" cy="260152"/>
          </a:xfrm>
          <a:prstGeom prst="roundRect">
            <a:avLst>
              <a:gd name="adj" fmla="val 19527"/>
            </a:avLst>
          </a:prstGeom>
          <a:solidFill>
            <a:srgbClr val="FAFAF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691118" y="4611439"/>
            <a:ext cx="17553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616452" y="4538514"/>
            <a:ext cx="1892350" cy="260152"/>
          </a:xfrm>
          <a:prstGeom prst="roundRect">
            <a:avLst>
              <a:gd name="adj" fmla="val 19527"/>
            </a:avLst>
          </a:prstGeom>
          <a:solidFill>
            <a:srgbClr val="FAFAF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684968" y="4611439"/>
            <a:ext cx="175531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34901" y="4849416"/>
            <a:ext cx="80313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7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 partagée : entraînement spécifique à chaque domaine — pas de généralisation cross-domaine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34901" y="4497437"/>
            <a:ext cx="78741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4901" y="4692700"/>
            <a:ext cx="26427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 d'avancement de thèse — Y. AMMOURI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507950"/>
            <a:ext cx="777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 — Concepts de base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2000" y="711101"/>
            <a:ext cx="7772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Models pour Séries Temporelles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62000" y="2631728"/>
            <a:ext cx="7620000" cy="396776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81050" y="2631728"/>
            <a:ext cx="0" cy="396776"/>
          </a:xfrm>
          <a:prstGeom prst="line">
            <a:avLst/>
          </a:prstGeom>
          <a:noFill/>
          <a:ln w="38100">
            <a:solidFill>
              <a:srgbClr val="2D2D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7801" y="2758678"/>
            <a:ext cx="73710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Capacité zero-shot / few-shot — un modèle pour plusieurs équipements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62000" y="4726037"/>
            <a:ext cx="7620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507950"/>
            <a:ext cx="777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 — État de l'art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2000" y="711101"/>
            <a:ext cx="7772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Cartographie du Domaine de Recherche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555950" y="1571327"/>
            <a:ext cx="1755725" cy="549176"/>
          </a:xfrm>
          <a:prstGeom prst="roundRect">
            <a:avLst>
              <a:gd name="adj" fmla="val 9250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708350" y="1774478"/>
            <a:ext cx="14799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 (Federated Learning)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525244" y="2333327"/>
            <a:ext cx="1586657" cy="549176"/>
          </a:xfrm>
          <a:prstGeom prst="roundRect">
            <a:avLst>
              <a:gd name="adj" fmla="val 9250"/>
            </a:avLst>
          </a:prstGeom>
          <a:solidFill>
            <a:srgbClr val="2196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677644" y="2536478"/>
            <a:ext cx="13074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 FMs (Time Series)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47851" y="3308152"/>
            <a:ext cx="1716137" cy="549176"/>
          </a:xfrm>
          <a:prstGeom prst="roundRect">
            <a:avLst>
              <a:gd name="adj" fmla="val 9250"/>
            </a:avLst>
          </a:prstGeom>
          <a:solidFill>
            <a:srgbClr val="FF98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200251" y="3511302"/>
            <a:ext cx="14395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Prédictive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1851" y="2460278"/>
            <a:ext cx="1980902" cy="1091952"/>
          </a:xfrm>
          <a:prstGeom prst="roundRect">
            <a:avLst>
              <a:gd name="adj" fmla="val 6978"/>
            </a:avLst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31212" y="2857649"/>
            <a:ext cx="1462031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 + TS FM + Maintenance</a:t>
            </a:r>
            <a:endParaRPr lang="en-US" sz="900" dirty="0"/>
          </a:p>
          <a:p>
            <a:pPr algn="ctr" indent="0" marL="0">
              <a:lnSpc>
                <a:spcPts val="117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Territoire vierge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93950" y="3863578"/>
            <a:ext cx="3629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17950" y="3863578"/>
            <a:ext cx="5055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Émergent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41950" y="3863578"/>
            <a:ext cx="5120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Classique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61108" y="4289078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4CAF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772711" y="4542979"/>
            <a:ext cx="52934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FL: Mature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76861" y="4289078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2196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798406" y="4542979"/>
            <a:ext cx="909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 FMs: Émergent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11404" y="4289078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FF98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97690" y="4542979"/>
            <a:ext cx="11799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Maintenance: Classique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62000" y="4497437"/>
            <a:ext cx="7620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000" y="4692700"/>
            <a:ext cx="26427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 d'avancement de thèse — Y. AMMOURI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507950"/>
            <a:ext cx="777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 — État de l'art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2000" y="711101"/>
            <a:ext cx="77724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des Foundation Models pour séries temporelles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62000" y="1619101"/>
            <a:ext cx="3733800" cy="947737"/>
          </a:xfrm>
          <a:prstGeom prst="roundRect">
            <a:avLst>
              <a:gd name="adj" fmla="val 8040"/>
            </a:avLst>
          </a:prstGeom>
          <a:solidFill>
            <a:srgbClr val="F8F8F8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23925" y="1755577"/>
            <a:ext cx="34781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23925" y="1939677"/>
            <a:ext cx="34781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des données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23925" y="2133302"/>
            <a:ext cx="3478149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Entraînés sur données publiques (météo, finance), pas industrielles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48200" y="1619101"/>
            <a:ext cx="3733800" cy="947737"/>
          </a:xfrm>
          <a:prstGeom prst="roundRect">
            <a:avLst>
              <a:gd name="adj" fmla="val 8040"/>
            </a:avLst>
          </a:prstGeom>
          <a:solidFill>
            <a:srgbClr val="F8F8F8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10125" y="1755577"/>
            <a:ext cx="34781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10125" y="1939677"/>
            <a:ext cx="34781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multivarié limité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10125" y="2133302"/>
            <a:ext cx="347814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Conçus pour univariés, industrie = 100+ capteurs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62000" y="2719239"/>
            <a:ext cx="3733800" cy="799207"/>
          </a:xfrm>
          <a:prstGeom prst="roundRect">
            <a:avLst>
              <a:gd name="adj" fmla="val 9534"/>
            </a:avLst>
          </a:prstGeom>
          <a:solidFill>
            <a:srgbClr val="F8F8F8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23925" y="2855714"/>
            <a:ext cx="34781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23925" y="3039814"/>
            <a:ext cx="34781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Absence évaluation maintenance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23925" y="3233440"/>
            <a:ext cx="347814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classification défaillances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48200" y="2719239"/>
            <a:ext cx="3733800" cy="799207"/>
          </a:xfrm>
          <a:prstGeom prst="roundRect">
            <a:avLst>
              <a:gd name="adj" fmla="val 9534"/>
            </a:avLst>
          </a:prstGeom>
          <a:solidFill>
            <a:srgbClr val="F8F8F8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10125" y="2855714"/>
            <a:ext cx="34781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10125" y="3039814"/>
            <a:ext cx="34781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Non-conception FL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10125" y="3233440"/>
            <a:ext cx="347814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propriétés federation-friendly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62000" y="3696146"/>
            <a:ext cx="7620000" cy="406301"/>
          </a:xfrm>
          <a:prstGeom prst="roundRect">
            <a:avLst>
              <a:gd name="adj" fmla="val 18755"/>
            </a:avLst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67055" y="3823097"/>
            <a:ext cx="74098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25-50% perte de performance sans fine-tuning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62000" y="4726037"/>
            <a:ext cx="7620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507950"/>
            <a:ext cx="777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 — État de l'art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2000" y="711101"/>
            <a:ext cx="7772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 + TS Foundation Models: Travaux Existants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62000" y="2584103"/>
            <a:ext cx="7620000" cy="396776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81050" y="2584103"/>
            <a:ext cx="0" cy="396776"/>
          </a:xfrm>
          <a:prstGeom prst="line">
            <a:avLst/>
          </a:prstGeom>
          <a:noFill/>
          <a:ln w="38100">
            <a:solidFill>
              <a:srgbClr val="2D2D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7801" y="2711053"/>
            <a:ext cx="73710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travail ne combine FL + TS FM + Maintenance industrielle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62000" y="4726037"/>
            <a:ext cx="7620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81000"/>
            <a:ext cx="80313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 — État de l'art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34901" y="561975"/>
            <a:ext cx="803137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Stratégies de Personnalisation Fédérée (Inspiration NLP/Vision)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34901" y="1533227"/>
            <a:ext cx="7873901" cy="0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4901" y="1212652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58901" y="1212652"/>
            <a:ext cx="777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Année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20901" y="1212652"/>
            <a:ext cx="56996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Approche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34901" y="2036266"/>
            <a:ext cx="78739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4901" y="1720453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FedCLIP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58901" y="1707654"/>
            <a:ext cx="777240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920901" y="1707654"/>
            <a:ext cx="5699659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Adapters sur backbone gelé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34901" y="2534543"/>
            <a:ext cx="78739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4901" y="2218730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FedOPAL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58901" y="2205930"/>
            <a:ext cx="777240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920901" y="2205930"/>
            <a:ext cx="5699659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LoRA global + personnel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34901" y="3032820"/>
            <a:ext cx="78739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901" y="2717006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FDLoRA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58901" y="2704207"/>
            <a:ext cx="777240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920901" y="2704207"/>
            <a:ext cx="5699659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 adaptative post-agrégation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34901" y="3531096"/>
            <a:ext cx="78739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901" y="3215283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HeLoRA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158901" y="3202484"/>
            <a:ext cx="777240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920901" y="3202484"/>
            <a:ext cx="5699659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Rangs LoRA hétérogènes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34901" y="4029373"/>
            <a:ext cx="78739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4901" y="3713559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FedQLoRA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158901" y="3700760"/>
            <a:ext cx="777240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920901" y="3700760"/>
            <a:ext cx="5699659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Quantization-aware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34901" y="4186535"/>
            <a:ext cx="7873901" cy="396776"/>
          </a:xfrm>
          <a:prstGeom prst="roundRect">
            <a:avLst>
              <a:gd name="adj" fmla="val 1920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61851" y="4313486"/>
            <a:ext cx="777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 PEFT transférables aux séries temporelles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4901" y="4497437"/>
            <a:ext cx="78741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4901" y="4692700"/>
            <a:ext cx="26341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 d'avancement de thèse — Y. AMMOURI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507950"/>
            <a:ext cx="777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 — État de l'art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2000" y="711101"/>
            <a:ext cx="7772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 et Maintenance Prédictive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62000" y="1926729"/>
            <a:ext cx="7620000" cy="0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2000" y="1545878"/>
            <a:ext cx="28498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Travail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555950" y="1545878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25901" y="1545878"/>
            <a:ext cx="36272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62000" y="2540794"/>
            <a:ext cx="7620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2000" y="2164705"/>
            <a:ext cx="28498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Pruckovskaja et al.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55950" y="2152055"/>
            <a:ext cx="1295349" cy="16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Pompes, moteurs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25901" y="2152055"/>
            <a:ext cx="3627221" cy="16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data-dépendante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62000" y="3150096"/>
            <a:ext cx="7620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2000" y="2774007"/>
            <a:ext cx="28498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OASEES SWARMAware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55950" y="2761357"/>
            <a:ext cx="1295349" cy="16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Éoliennes acoustiques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25901" y="2761357"/>
            <a:ext cx="3627221" cy="16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62000" y="3759398"/>
            <a:ext cx="7620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2000" y="3383310"/>
            <a:ext cx="28498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Turbofan RUL FL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55950" y="3370659"/>
            <a:ext cx="1295349" cy="16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Moteurs turbofan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25901" y="3370659"/>
            <a:ext cx="3627221" cy="16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Comparable centralisé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62000" y="3967311"/>
            <a:ext cx="7620000" cy="4572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14400" y="4119711"/>
            <a:ext cx="74615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n'utilise de Foundation Model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62000" y="4726037"/>
            <a:ext cx="7620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507950"/>
            <a:ext cx="777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 — Problématiques identifiées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2000" y="711101"/>
            <a:ext cx="7772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Problématiques Identifiées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62000" y="2052340"/>
            <a:ext cx="7620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2000" y="1596777"/>
            <a:ext cx="6475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96901" y="1444377"/>
            <a:ext cx="71248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96901" y="1615827"/>
            <a:ext cx="71248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Personnalisation fédérée sur données hétérogènes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62000" y="2792016"/>
            <a:ext cx="7620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2000" y="2336453"/>
            <a:ext cx="6475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96901" y="2184053"/>
            <a:ext cx="71248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96901" y="2355503"/>
            <a:ext cx="71248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Absence de benchmark fédéré standardisé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62000" y="3531691"/>
            <a:ext cx="7620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2000" y="3076129"/>
            <a:ext cx="6475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96901" y="2923729"/>
            <a:ext cx="71248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96901" y="3095179"/>
            <a:ext cx="71248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Incompatibilité architecturale TS FMs avec FL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62000" y="4271367"/>
            <a:ext cx="7620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2000" y="3815804"/>
            <a:ext cx="6475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96901" y="3663404"/>
            <a:ext cx="71248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96901" y="3834854"/>
            <a:ext cx="71248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Inadéquation aux données industrielles réelles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62000" y="4726037"/>
            <a:ext cx="7620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355550"/>
            <a:ext cx="80313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 — Problématiques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34901" y="523726"/>
            <a:ext cx="80313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Synthèse: Carte des Gaps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34901" y="1250454"/>
            <a:ext cx="7873901" cy="0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4901" y="1031528"/>
            <a:ext cx="69951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482742" y="1031528"/>
            <a:ext cx="10362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Sévérité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34901" y="1791593"/>
            <a:ext cx="78739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4901" y="1374130"/>
            <a:ext cx="6995160" cy="298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Entraînement fédéré de TS FMs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482742" y="1437680"/>
            <a:ext cx="10362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4901" y="2327970"/>
            <a:ext cx="78739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4901" y="1910507"/>
            <a:ext cx="6995160" cy="298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 FMs pour maintenance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7482742" y="1974056"/>
            <a:ext cx="10362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4901" y="2864346"/>
            <a:ext cx="78739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901" y="2446883"/>
            <a:ext cx="6995160" cy="298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 FMs sur non-IID hétérogène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482742" y="2510433"/>
            <a:ext cx="10362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4901" y="3400723"/>
            <a:ext cx="78739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901" y="2983260"/>
            <a:ext cx="6995160" cy="298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PEFT pour TS FMs en FL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482742" y="3046809"/>
            <a:ext cx="10362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4901" y="3937099"/>
            <a:ext cx="78739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4901" y="3519636"/>
            <a:ext cx="6995160" cy="298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Généralisation cross-domaine fédérée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482742" y="3583186"/>
            <a:ext cx="10362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Majeur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4901" y="4473476"/>
            <a:ext cx="78739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4901" y="4056013"/>
            <a:ext cx="6995160" cy="298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fédéré multi-domaine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482742" y="4119562"/>
            <a:ext cx="10362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Majeur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4901" y="5009852"/>
            <a:ext cx="787390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4901" y="4592389"/>
            <a:ext cx="6995160" cy="298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(DP + FL + TS FMs)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482742" y="4655939"/>
            <a:ext cx="10362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Modéré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4901" y="4726037"/>
            <a:ext cx="78741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507950"/>
            <a:ext cx="777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 — Contributions envisagées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2000" y="711101"/>
            <a:ext cx="7772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Contributions Envisagées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62000" y="1901428"/>
            <a:ext cx="7620000" cy="0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2000" y="1533227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96901" y="1533227"/>
            <a:ext cx="31089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44901" y="1533227"/>
            <a:ext cx="40158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62000" y="2490192"/>
            <a:ext cx="7620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2000" y="2126754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96901" y="2126754"/>
            <a:ext cx="31089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FedPEFT-TS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44901" y="2114104"/>
            <a:ext cx="4015841" cy="16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62000" y="3074194"/>
            <a:ext cx="7620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2000" y="2710755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96901" y="2710755"/>
            <a:ext cx="31089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FedTS-Bench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44901" y="2698105"/>
            <a:ext cx="4015841" cy="16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62000" y="3658195"/>
            <a:ext cx="7620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2000" y="3294757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96901" y="3294757"/>
            <a:ext cx="31089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FedTSFM-Arch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44901" y="3282107"/>
            <a:ext cx="4015841" cy="16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62000" y="4242197"/>
            <a:ext cx="7620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2000" y="3878759"/>
            <a:ext cx="6475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96901" y="3878759"/>
            <a:ext cx="31089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IndusFedFM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44901" y="3866108"/>
            <a:ext cx="4015841" cy="16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62000" y="4450110"/>
            <a:ext cx="7620000" cy="631775"/>
          </a:xfrm>
          <a:prstGeom prst="roundRect">
            <a:avLst>
              <a:gd name="adj" fmla="val 1206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09124" y="4602510"/>
            <a:ext cx="5381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Année 1-2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09124" y="4786610"/>
            <a:ext cx="538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+ C2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690621" y="4602510"/>
            <a:ext cx="5381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Année 2-3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690621" y="4786610"/>
            <a:ext cx="538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473134" y="4602510"/>
            <a:ext cx="4344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Année 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473134" y="4786610"/>
            <a:ext cx="4344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62000" y="4726037"/>
            <a:ext cx="7620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507950"/>
            <a:ext cx="777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 — C1 FedPEFT-TS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2000" y="711101"/>
            <a:ext cx="7772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C1: FedPEFT-TS - Personnalisation Fédérée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62000" y="1317427"/>
            <a:ext cx="7620000" cy="1422202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81050" y="1317427"/>
            <a:ext cx="0" cy="1422202"/>
          </a:xfrm>
          <a:prstGeom prst="line">
            <a:avLst/>
          </a:prstGeom>
          <a:noFill/>
          <a:ln w="38100">
            <a:solidFill>
              <a:srgbClr val="2D2D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3250" y="1469827"/>
            <a:ext cx="731911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Problème : RQ1 — Personnaliser un TS FM global pour clients hétérogènes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3250" y="1698427"/>
            <a:ext cx="7175599" cy="83805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35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Partir d'un TS FM existant (Moirai ou TimesFM), geler le backbone</a:t>
            </a:r>
            <a:endParaRPr lang="en-US" sz="900" dirty="0"/>
          </a:p>
          <a:p>
            <a:pPr algn="l" marL="190500" indent="-190500">
              <a:lnSpc>
                <a:spcPts val="135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Attacher petits modules LoRA sur couches d'attention temporelle</a:t>
            </a:r>
            <a:endParaRPr lang="en-US" sz="900" dirty="0"/>
          </a:p>
          <a:p>
            <a:pPr algn="l" marL="190500" indent="-190500">
              <a:lnSpc>
                <a:spcPts val="135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client: LoRA personnel (local) + LoRA global (agrégé)</a:t>
            </a:r>
            <a:endParaRPr lang="en-US" sz="900" dirty="0"/>
          </a:p>
          <a:p>
            <a:pPr algn="l" marL="190500" indent="-190500">
              <a:lnSpc>
                <a:spcPts val="135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domaine-spécifiques (inspiration: UniTime, Time-FFM)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62000" y="3471118"/>
            <a:ext cx="76200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2000" y="3133130"/>
            <a:ext cx="23317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Approche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48000" y="3120479"/>
            <a:ext cx="5440680" cy="16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 Prompt Tuning + LoRA avec agrégation FedAvg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62000" y="4004221"/>
            <a:ext cx="76200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2000" y="3666232"/>
            <a:ext cx="23317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Personnalisation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48000" y="3653582"/>
            <a:ext cx="5440680" cy="16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spécifiques par client + prompts learnable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62000" y="4537323"/>
            <a:ext cx="76200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" y="4199334"/>
            <a:ext cx="23317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48000" y="4186684"/>
            <a:ext cx="5440680" cy="16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Transfert des matrices LoRA uniquement (très faible带宽)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62000" y="4694486"/>
            <a:ext cx="7620000" cy="355402"/>
          </a:xfrm>
          <a:prstGeom prst="roundRect">
            <a:avLst>
              <a:gd name="adj" fmla="val 14294"/>
            </a:avLst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14400" y="4795986"/>
            <a:ext cx="74615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Première combinaison LoRA + prompts domaine + FL pour TS FMs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62000" y="4726037"/>
            <a:ext cx="7620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44401"/>
            <a:ext cx="80313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 — C2 FedTS-Bench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34901" y="647551"/>
            <a:ext cx="803137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C2: FedTS-Bench - Benchmark Fédéré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4901" y="1145977"/>
            <a:ext cx="7873901" cy="833735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53951" y="1145977"/>
            <a:ext cx="0" cy="833735"/>
          </a:xfrm>
          <a:prstGeom prst="line">
            <a:avLst/>
          </a:prstGeom>
          <a:noFill/>
          <a:ln w="38100">
            <a:solidFill>
              <a:srgbClr val="2D2D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702" y="1272927"/>
            <a:ext cx="76300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Problème : RQ2 — Absence de benchmark standardisé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50702" y="1492002"/>
            <a:ext cx="7480399" cy="322659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12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Datasets: NASA C-MAPSS (turbofan), CWRU (roulements), FEMTO-ST, SCADA éoliennes</a:t>
            </a:r>
            <a:endParaRPr lang="en-US" sz="800" dirty="0"/>
          </a:p>
          <a:p>
            <a:pPr algn="l" marL="190500" indent="-190500">
              <a:lnSpc>
                <a:spcPts val="112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Partitions non-IID simulant N clients hétérogènes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34901" y="2132112"/>
            <a:ext cx="3873401" cy="406301"/>
          </a:xfrm>
          <a:prstGeom prst="roundRect">
            <a:avLst>
              <a:gd name="adj" fmla="val 12503"/>
            </a:avLst>
          </a:prstGeom>
          <a:solidFill>
            <a:srgbClr val="FAFAF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83606" y="2217837"/>
            <a:ext cx="377599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C-MAPSS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3606" y="2357438"/>
            <a:ext cx="377599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Turbofan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635252" y="2132112"/>
            <a:ext cx="3873550" cy="406301"/>
          </a:xfrm>
          <a:prstGeom prst="roundRect">
            <a:avLst>
              <a:gd name="adj" fmla="val 12503"/>
            </a:avLst>
          </a:prstGeom>
          <a:solidFill>
            <a:srgbClr val="FAFAF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683956" y="2217837"/>
            <a:ext cx="37761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CWRU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83956" y="2357438"/>
            <a:ext cx="37761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Roulements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34901" y="3089077"/>
            <a:ext cx="7873901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901" y="2830413"/>
            <a:ext cx="15544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pondéré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158901" y="2817763"/>
            <a:ext cx="6476899" cy="139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Équilibre classes déséquilibrées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34901" y="3492103"/>
            <a:ext cx="7873901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4901" y="3233440"/>
            <a:ext cx="15544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AUC-PR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58901" y="3220789"/>
            <a:ext cx="6476899" cy="139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Précision-Rappel area under curve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34901" y="4726037"/>
            <a:ext cx="7874198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507950"/>
            <a:ext cx="777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 — C3 + C4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2000" y="711101"/>
            <a:ext cx="7772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 &amp; C4: Architecture Native FL + Validation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62000" y="1317427"/>
            <a:ext cx="3708350" cy="1042690"/>
          </a:xfrm>
          <a:prstGeom prst="roundRect">
            <a:avLst>
              <a:gd name="adj" fmla="val 7308"/>
            </a:avLst>
          </a:prstGeom>
          <a:solidFill>
            <a:srgbClr val="FAFAF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98475" y="1453902"/>
            <a:ext cx="35041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C3: FedTSFM-Arch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8475" y="1682502"/>
            <a:ext cx="3435400" cy="503039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12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Patching hiérarchique (réduit contexte)</a:t>
            </a:r>
            <a:endParaRPr lang="en-US" sz="800" dirty="0"/>
          </a:p>
          <a:p>
            <a:pPr algn="l" marL="190500" indent="-190500">
              <a:lnSpc>
                <a:spcPts val="112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MoE sparse client-guidé (spécialisation)</a:t>
            </a:r>
            <a:endParaRPr lang="en-US" sz="800" dirty="0"/>
          </a:p>
          <a:p>
            <a:pPr algn="l" marL="190500" indent="-190500">
              <a:lnSpc>
                <a:spcPts val="112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Mises à jour low-rank (×50 réduction comm.)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673501" y="1317427"/>
            <a:ext cx="3708499" cy="1042690"/>
          </a:xfrm>
          <a:prstGeom prst="roundRect">
            <a:avLst>
              <a:gd name="adj" fmla="val 7308"/>
            </a:avLst>
          </a:prstGeom>
          <a:solidFill>
            <a:srgbClr val="FAFAF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09976" y="1453902"/>
            <a:ext cx="35042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C4: IndusFedFM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09976" y="1682502"/>
            <a:ext cx="3435548" cy="503039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12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Intra-domaine (éoliens)</a:t>
            </a:r>
            <a:endParaRPr lang="en-US" sz="800" dirty="0"/>
          </a:p>
          <a:p>
            <a:pPr algn="l" marL="190500" indent="-190500">
              <a:lnSpc>
                <a:spcPts val="112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Cross-domaine (éolien+HVAC+manuf.)</a:t>
            </a:r>
            <a:endParaRPr lang="en-US" sz="800" dirty="0"/>
          </a:p>
          <a:p>
            <a:pPr algn="l" marL="190500" indent="-190500">
              <a:lnSpc>
                <a:spcPts val="112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Cold-start (zero-shot)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62000" y="2563267"/>
            <a:ext cx="2455366" cy="387251"/>
          </a:xfrm>
          <a:prstGeom prst="roundRect">
            <a:avLst>
              <a:gd name="adj" fmla="val 13118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15170" y="2639467"/>
            <a:ext cx="23490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Intra-domaine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15170" y="2779068"/>
            <a:ext cx="23490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domaine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344317" y="2563267"/>
            <a:ext cx="2455366" cy="387251"/>
          </a:xfrm>
          <a:prstGeom prst="roundRect">
            <a:avLst>
              <a:gd name="adj" fmla="val 13118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97487" y="2639467"/>
            <a:ext cx="23490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Cross-domaine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97487" y="2779068"/>
            <a:ext cx="23490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Multi-domaines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926634" y="2563267"/>
            <a:ext cx="2455366" cy="387251"/>
          </a:xfrm>
          <a:prstGeom prst="roundRect">
            <a:avLst>
              <a:gd name="adj" fmla="val 13118"/>
            </a:avLst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979804" y="2639467"/>
            <a:ext cx="23490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Cold-start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79804" y="2779068"/>
            <a:ext cx="23490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62000" y="3204418"/>
            <a:ext cx="7620000" cy="742950"/>
          </a:xfrm>
          <a:prstGeom prst="roundRect">
            <a:avLst>
              <a:gd name="adj" fmla="val 10256"/>
            </a:avLst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65150" y="3356818"/>
            <a:ext cx="73579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Vision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5150" y="3623518"/>
            <a:ext cx="73579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Foundation Model de Séries Temporelles entraînable fédéré pour maintenance multi-domaine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62000" y="4726037"/>
            <a:ext cx="7620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507950"/>
            <a:ext cx="777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06 — Publications Prévues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2000" y="711101"/>
            <a:ext cx="7772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Contenu des Publications Prévues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62000" y="3002161"/>
            <a:ext cx="7620000" cy="561826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81050" y="3002161"/>
            <a:ext cx="0" cy="561826"/>
          </a:xfrm>
          <a:prstGeom prst="line">
            <a:avLst/>
          </a:prstGeom>
          <a:noFill/>
          <a:ln w="38100">
            <a:solidFill>
              <a:srgbClr val="2D2D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7801" y="3129111"/>
            <a:ext cx="73710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Journaux/Conférences cibles 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77801" y="3322737"/>
            <a:ext cx="73710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TII, Renewable Energy, NeurIPS, ICML, ICLR, KDD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62000" y="4726037"/>
            <a:ext cx="7620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507950"/>
            <a:ext cx="777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06 — Stratégie de publication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2000" y="711101"/>
            <a:ext cx="7772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Conférences et Journaux Ciblés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62000" y="1525339"/>
            <a:ext cx="37338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2000" y="1317427"/>
            <a:ext cx="38084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Journaux Scientifiques (Q1)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2000" y="1631603"/>
            <a:ext cx="3733800" cy="88329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Transactions on Industrial Informatics</a:t>
            </a:r>
            <a:endParaRPr lang="en-US" sz="900" dirty="0"/>
          </a:p>
          <a:p>
            <a:pPr algn="l" marL="76200" indent="-762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Energy (Elsevier)</a:t>
            </a:r>
            <a:endParaRPr lang="en-US" sz="900" dirty="0"/>
          </a:p>
          <a:p>
            <a:pPr algn="l" marL="76200" indent="-762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Transactions on Neural Networks</a:t>
            </a:r>
            <a:endParaRPr lang="en-US" sz="900" dirty="0"/>
          </a:p>
          <a:p>
            <a:pPr algn="l" marL="76200" indent="-762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 of Manufacturing Systems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48200" y="1525339"/>
            <a:ext cx="37338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8200" y="1317427"/>
            <a:ext cx="38084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Conférences Cibles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48200" y="1631603"/>
            <a:ext cx="3733800" cy="88329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NeurIPS (Foundation Models)</a:t>
            </a:r>
            <a:endParaRPr lang="en-US" sz="900" dirty="0"/>
          </a:p>
          <a:p>
            <a:pPr algn="l" marL="76200" indent="-762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ICML (Federated Learning)</a:t>
            </a:r>
            <a:endParaRPr lang="en-US" sz="900" dirty="0"/>
          </a:p>
          <a:p>
            <a:pPr algn="l" marL="76200" indent="-762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SmartGridComm</a:t>
            </a:r>
            <a:endParaRPr lang="en-US" sz="900" dirty="0"/>
          </a:p>
          <a:p>
            <a:pPr algn="l" marL="76200" indent="-76200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ECAI (Europe)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62000" y="3465612"/>
            <a:ext cx="7620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2000" y="2971949"/>
            <a:ext cx="23317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Transactions on Industrial Informatics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48000" y="2959298"/>
            <a:ext cx="5440680" cy="31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62000" y="4024313"/>
            <a:ext cx="7620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2000" y="3673525"/>
            <a:ext cx="23317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Energy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48000" y="3660874"/>
            <a:ext cx="5440680" cy="16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62000" y="4583013"/>
            <a:ext cx="7620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2000" y="4232225"/>
            <a:ext cx="23317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NeurIPS / ICML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48000" y="4219575"/>
            <a:ext cx="5440680" cy="16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8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Conf.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62000" y="4726037"/>
            <a:ext cx="7620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507950"/>
            <a:ext cx="777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2000" y="711101"/>
            <a:ext cx="7772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 et Perspectives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62000" y="1317427"/>
            <a:ext cx="3708350" cy="795635"/>
          </a:xfrm>
          <a:prstGeom prst="roundRect">
            <a:avLst>
              <a:gd name="adj" fmla="val 957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14400" y="1444377"/>
            <a:ext cx="3471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Problématique Centrale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663452"/>
            <a:ext cx="3471621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entraîner des modèles de séries temporelles performants sans centraliser les données industrielles?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673501" y="1317427"/>
            <a:ext cx="3708499" cy="795635"/>
          </a:xfrm>
          <a:prstGeom prst="roundRect">
            <a:avLst>
              <a:gd name="adj" fmla="val 957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25901" y="1444377"/>
            <a:ext cx="34717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Identifié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25901" y="1663452"/>
            <a:ext cx="347177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 + TS Foundation Models + Maintenance = espace de recherche vierge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62000" y="2316212"/>
            <a:ext cx="3708350" cy="1143298"/>
          </a:xfrm>
          <a:prstGeom prst="roundRect">
            <a:avLst>
              <a:gd name="adj" fmla="val 666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14400" y="2443163"/>
            <a:ext cx="34716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Contributions Clés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662238"/>
            <a:ext cx="3403550" cy="645021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12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C1: FedPEFT-TS - Personnalisation LoRA + prompts</a:t>
            </a:r>
            <a:endParaRPr lang="en-US" sz="800" dirty="0"/>
          </a:p>
          <a:p>
            <a:pPr algn="l" marL="76200" indent="-76200">
              <a:lnSpc>
                <a:spcPts val="112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C2: FedTS-Bench - Benchmark fédéré</a:t>
            </a:r>
            <a:endParaRPr lang="en-US" sz="800" dirty="0"/>
          </a:p>
          <a:p>
            <a:pPr algn="l" marL="76200" indent="-76200">
              <a:lnSpc>
                <a:spcPts val="112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C3: Architecture native FL</a:t>
            </a:r>
            <a:endParaRPr lang="en-US" sz="800" dirty="0"/>
          </a:p>
          <a:p>
            <a:pPr algn="l" marL="76200" indent="-76200">
              <a:lnSpc>
                <a:spcPts val="1120"/>
              </a:lnSpc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C4: Validation industrielle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73501" y="2316212"/>
            <a:ext cx="37826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Prochaines Étapes (2025-2026)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73501" y="2535287"/>
            <a:ext cx="3708499" cy="761702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35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Finaliser article Master (P0) - IEEE TII / Renewable Energy</a:t>
            </a:r>
            <a:endParaRPr lang="en-US" sz="900" dirty="0"/>
          </a:p>
          <a:p>
            <a:pPr algn="l" marL="76200" indent="-76200">
              <a:lnSpc>
                <a:spcPts val="135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Compléter SLR (P1) - Revue systématique</a:t>
            </a:r>
            <a:endParaRPr lang="en-US" sz="900" dirty="0"/>
          </a:p>
          <a:p>
            <a:pPr algn="l" marL="76200" indent="-76200">
              <a:lnSpc>
                <a:spcPts val="135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Implémenter pipeline FedProx</a:t>
            </a:r>
            <a:endParaRPr lang="en-US" sz="900" dirty="0"/>
          </a:p>
          <a:p>
            <a:pPr algn="l" marL="76200" indent="-76200">
              <a:lnSpc>
                <a:spcPts val="1350"/>
              </a:lnSpc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Préparer soumission NeurIPS/ICML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2000" y="3662660"/>
            <a:ext cx="7620000" cy="933450"/>
          </a:xfrm>
          <a:prstGeom prst="roundRect">
            <a:avLst>
              <a:gd name="adj" fmla="val 8163"/>
            </a:avLst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41248" y="3815060"/>
            <a:ext cx="7461504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Vision: Un Foundation Model de Séries Temporelles</a:t>
            </a:r>
            <a:endParaRPr lang="en-US" sz="1100" dirty="0"/>
          </a:p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entraînable de façon fédérée pour la maintenance</a:t>
            </a:r>
            <a:endParaRPr lang="en-US" sz="1100" dirty="0"/>
          </a:p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prédictive multi-domaine des systèmes industriels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2000" y="4726037"/>
            <a:ext cx="7620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2D2D2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1015901"/>
            <a:ext cx="77724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0"/>
              </a:spcBef>
              <a:spcAft>
                <a:spcPts val="2000"/>
              </a:spcAft>
              <a:buNone/>
            </a:pPr>
            <a:r>
              <a:rPr lang="en-US" sz="36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793677"/>
            <a:ext cx="7772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et suggestions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384227"/>
            <a:ext cx="777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Doctorant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2603302"/>
            <a:ext cx="77724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Yassire AMMOURI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2774752"/>
            <a:ext cx="777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Encadrants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993827"/>
            <a:ext cx="77724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Pr. Younes Karfa Bakali, Mme Rajaa SAIDI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2000" y="3508177"/>
            <a:ext cx="7620000" cy="514350"/>
          </a:xfrm>
          <a:prstGeom prst="roundRect">
            <a:avLst>
              <a:gd name="adj" fmla="val 1481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41248" y="3660577"/>
            <a:ext cx="74615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 questions sont les bienvenues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4073575"/>
            <a:ext cx="777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Mohammed V, Faculté des Sciences de Rabat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4267200"/>
            <a:ext cx="7772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LRIT - Laboratoire de Recherche en Informatique et Télécommunications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62000" y="4726037"/>
            <a:ext cx="762000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Rapport d'avancement de thèse</dc:title>
  <dc:subject>Federated Time Series Foundation Models</dc:subject>
  <dc:creator>Yassire AMMOURI</dc:creator>
  <cp:lastModifiedBy>Yassire AMMOURI</cp:lastModifiedBy>
  <cp:revision>1</cp:revision>
  <dcterms:created xsi:type="dcterms:W3CDTF">2026-03-31T19:09:48Z</dcterms:created>
  <dcterms:modified xsi:type="dcterms:W3CDTF">2026-03-31T19:09:48Z</dcterms:modified>
</cp:coreProperties>
</file>