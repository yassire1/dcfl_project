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</a:defRPr>
            </a:pPr>
            <a:r>
              <a:t>Federated Time Series Foundation Models</a:t>
            </a:r>
          </a:p>
          <a:p>
            <a:pPr algn="l">
              <a:defRPr sz="2200">
                <a:solidFill>
                  <a:srgbClr val="2D2D2D"/>
                </a:solidFill>
              </a:defRPr>
            </a:pPr>
            <a:r>
              <a:t>pour la Maintenance Prédictive Industrielle Multi-Domaine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6B6B"/>
                </a:solidFill>
              </a:defRPr>
            </a:pPr>
            <a:r>
              <a:t>Rapport d'avancement de thèse — Première année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319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r>
              <a:t>Doctorant :  Yassire AMMOURI</a:t>
            </a:r>
          </a:p>
          <a:p>
            <a:pPr>
              <a:spcAft>
                <a:spcPts val="600"/>
              </a:spcAft>
              <a:defRPr sz="1100">
                <a:solidFill>
                  <a:srgbClr val="6B6B6B"/>
                </a:solidFill>
              </a:defRPr>
            </a:pPr>
            <a:r>
              <a:t>Directeur de thèse :  Pr. Younes Karfa Bakali</a:t>
            </a:r>
          </a:p>
          <a:p>
            <a:pPr>
              <a:spcAft>
                <a:spcPts val="600"/>
              </a:spcAft>
              <a:defRPr sz="1100">
                <a:solidFill>
                  <a:srgbClr val="6B6B6B"/>
                </a:solidFill>
              </a:defRPr>
            </a:pPr>
            <a:r>
              <a:t>Encadrant :  Mme Rajaa SAIDI</a:t>
            </a:r>
          </a:p>
          <a:p>
            <a:pPr>
              <a:spcAft>
                <a:spcPts val="600"/>
              </a:spcAft>
              <a:defRPr sz="1100">
                <a:solidFill>
                  <a:srgbClr val="6B6B6B"/>
                </a:solidFill>
              </a:defRPr>
            </a:pPr>
            <a:r>
              <a:t>Laboratoire :  LRIT — Université Mohammed V, Rabat</a:t>
            </a:r>
          </a:p>
          <a:p>
            <a:pPr>
              <a:spcAft>
                <a:spcPts val="600"/>
              </a:spcAft>
              <a:defRPr sz="1100">
                <a:solidFill>
                  <a:srgbClr val="6B6B6B"/>
                </a:solidFill>
              </a:defRPr>
            </a:pPr>
            <a:r>
              <a:t>Date :  Mars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999999"/>
                </a:solidFill>
              </a:defRPr>
            </a:pPr>
            <a:r>
              <a:t>Université Mohammed V — Faculté des Sciences de Rabat — LRIT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</a:defRPr>
            </a:pPr>
            <a:r>
              <a:t>AVANT-PROPOS — Formations et certifications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</a:defRPr>
            </a:pPr>
            <a:r>
              <a:t>Formations et certifications suivies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822960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777240"/>
          </a:xfrm>
          <a:prstGeom prst="round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2D2D2D"/>
                </a:solidFill>
              </a:defRPr>
            </a:pPr>
            <a:r>
              <a:t>WIPO — DL101  —  Propriété intellectuelle (brevets, droits d'auteur, marques)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40280"/>
            <a:ext cx="11247120" cy="777240"/>
          </a:xfrm>
          <a:prstGeom prst="round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2D2D2D"/>
                </a:solidFill>
              </a:defRPr>
            </a:pPr>
            <a:r>
              <a:t>Wiley  —  Publication scientifique : processus de soumission, révision par les pairs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11247120" cy="777240"/>
          </a:xfrm>
          <a:prstGeom prst="round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2D2D2D"/>
                </a:solidFill>
              </a:defRPr>
            </a:pPr>
            <a:r>
              <a:t>Scopus (Elsevier)  —  Base bibliographique : recherche avancée, analyse de citations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77640"/>
            <a:ext cx="11247120" cy="777240"/>
          </a:xfrm>
          <a:prstGeom prst="round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2D2D2D"/>
                </a:solidFill>
              </a:defRPr>
            </a:pPr>
            <a:r>
              <a:t>Springer Nature  —  Plateforme Springer : recherche et politiques open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777240"/>
          </a:xfrm>
          <a:prstGeom prst="round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2D2D2D"/>
                </a:solidFill>
              </a:defRPr>
            </a:pPr>
            <a:r>
              <a:t>Taylor &amp; Francis  —  Outils de recherche et publication en ingénierie/informatique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715000"/>
            <a:ext cx="11247120" cy="777240"/>
          </a:xfrm>
          <a:prstGeom prst="round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2D2D2D"/>
                </a:solidFill>
              </a:defRPr>
            </a:pPr>
            <a:r>
              <a:t>Clarivate (WoS)  —  Web of Science : facteurs d'impact, indicateurs bibliométriques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6035040"/>
            <a:ext cx="11247120" cy="640080"/>
          </a:xfrm>
          <a:prstGeom prst="roundRect">
            <a:avLst/>
          </a:prstGeom>
          <a:solidFill>
            <a:srgbClr val="F0F8FF"/>
          </a:solidFill>
          <a:ln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B6B6B"/>
                </a:solidFill>
              </a:defRPr>
            </a:pPr>
            <a:r>
              <a:t>Apport : capacité à conduire une revue de littérature rigoureuse et identifier les journaux pertinents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</a:defRPr>
            </a:pPr>
            <a:r>
              <a:t>AVANT-PROPOS — Avancement et activités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</a:defRPr>
            </a:pPr>
            <a:r>
              <a:t>Avancement de la rédaction et activités pédagogiques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822960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2286000"/>
          </a:xfrm>
          <a:prstGeom prst="roundRect">
            <a:avLst/>
          </a:prstGeom>
          <a:solidFill>
            <a:srgbClr val="FFF5F0"/>
          </a:solidFill>
          <a:ln>
            <a:solidFill>
              <a:srgbClr val="C86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2D2D2D"/>
                </a:solidFill>
              </a:defRPr>
            </a:pPr>
            <a:r>
              <a:t>P0 — Article Master (Data-Centric FL)</a:t>
            </a:r>
          </a:p>
          <a:p>
            <a:br/>
            <a:pPr>
              <a:defRPr sz="1100" b="1">
                <a:solidFill>
                  <a:srgbClr val="B43C3C"/>
                </a:solidFill>
              </a:defRPr>
            </a:pPr>
            <a:r>
              <a:t>Statut : Résultats BLOQUÉS</a:t>
            </a:r>
          </a:p>
          <a:p>
            <a:br/>
            <a:pPr>
              <a:defRPr sz="1000">
                <a:solidFill>
                  <a:srgbClr val="6B6B6B"/>
                </a:solidFill>
              </a:defRPr>
            </a:pPr>
            <a:r>
              <a:t>• Pipeline SCADA à déboguer</a:t>
            </a:r>
            <a:br/>
            <a:r>
              <a:t>• FedProx à refactoriser</a:t>
            </a:r>
            <a:br/>
            <a:r>
              <a:t>• Cible : IEEE TII ou Renewable Energy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486400" cy="2286000"/>
          </a:xfrm>
          <a:prstGeom prst="roundRect">
            <a:avLst/>
          </a:prstGeom>
          <a:solidFill>
            <a:srgbClr val="F0F8FF"/>
          </a:solidFill>
          <a:ln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2D2D2D"/>
                </a:solidFill>
              </a:defRPr>
            </a:pPr>
            <a:r>
              <a:t>P1 — Revue systématique (SLR)</a:t>
            </a:r>
          </a:p>
          <a:p>
            <a:br/>
            <a:pPr>
              <a:defRPr sz="1200" b="1">
                <a:solidFill>
                  <a:srgbClr val="1E50A0"/>
                </a:solidFill>
              </a:defRPr>
            </a:pPr>
            <a:r>
              <a:t>PRISMA : 3,000 → 1,700 → 361 → 181 articles</a:t>
            </a:r>
          </a:p>
          <a:p>
            <a:br/>
            <a:pPr>
              <a:defRPr sz="1000">
                <a:solidFill>
                  <a:srgbClr val="6B6B6B"/>
                </a:solidFill>
              </a:defRPr>
            </a:pPr>
            <a:r>
              <a:t>181 articles retenus pour synthèse</a:t>
            </a:r>
            <a:br/>
            <a:r>
              <a:t>Méthodologie PRISMA formalisée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40480"/>
            <a:ext cx="11247120" cy="1645920"/>
          </a:xfrm>
          <a:prstGeom prst="round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2D2D2D"/>
                </a:solidFill>
              </a:defRPr>
            </a:pPr>
            <a:r>
              <a:t>Activités d'enseignement (2025-2026)</a:t>
            </a:r>
          </a:p>
          <a:p>
            <a:br/>
            <a:pPr>
              <a:defRPr sz="1100">
                <a:solidFill>
                  <a:srgbClr val="6B6B6B"/>
                </a:solidFill>
              </a:defRPr>
            </a:pPr>
            <a:r>
              <a:t>• Traitement du Signal — TD (Licence 1ère année, branche AI)</a:t>
            </a:r>
          </a:p>
          <a:p>
            <a:pPr>
              <a:defRPr sz="1100">
                <a:solidFill>
                  <a:srgbClr val="6B6B6B"/>
                </a:solidFill>
              </a:defRPr>
            </a:pPr>
            <a:r>
              <a:t>• Machine Learning — TP (Licence 1ère année, branche PC)</a:t>
            </a:r>
          </a:p>
          <a:p>
            <a:br/>
            <a:pPr>
              <a:defRPr sz="1000" i="1">
                <a:solidFill>
                  <a:srgbClr val="6B6B6B"/>
                </a:solidFill>
              </a:defRPr>
            </a:pPr>
            <a:r>
              <a:t>Apport : compétences de communication et pédagogie pour les conférences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</a:defRPr>
            </a:pPr>
            <a:r>
              <a:t>SECTION 01 — Contexte général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</a:defRPr>
            </a:pPr>
            <a:r>
              <a:t>L'évolution de la maintenance industrielle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822960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508760"/>
            <a:ext cx="365760" cy="365760"/>
          </a:xfrm>
          <a:prstGeom prst="ellipse">
            <a:avLst/>
          </a:prstGeom>
          <a:solidFill>
            <a:srgbClr val="C8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C85050"/>
                </a:solidFill>
              </a:defRPr>
            </a:pPr>
            <a:r>
              <a:t>Corrective — On répare après la panne</a:t>
            </a:r>
          </a:p>
          <a:p>
            <a:pPr>
              <a:defRPr sz="1000">
                <a:solidFill>
                  <a:srgbClr val="6B6B6B"/>
                </a:solidFill>
              </a:defRPr>
            </a:pPr>
            <a:r>
              <a:t>Limite : Arrêts non planifiés, coûts élevés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331720"/>
            <a:ext cx="365760" cy="365760"/>
          </a:xfrm>
          <a:prstGeom prst="ellipse">
            <a:avLst/>
          </a:prstGeom>
          <a:solidFill>
            <a:srgbClr val="C8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C8A050"/>
                </a:solidFill>
              </a:defRPr>
            </a:pPr>
            <a:r>
              <a:t>Préventive — Interventions à intervalles fixes</a:t>
            </a:r>
          </a:p>
          <a:p>
            <a:pPr>
              <a:defRPr sz="1000">
                <a:solidFill>
                  <a:srgbClr val="6B6B6B"/>
                </a:solidFill>
              </a:defRPr>
            </a:pPr>
            <a:r>
              <a:t>Limite : Gaspillage, interventions inutiles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154680"/>
            <a:ext cx="365760" cy="365760"/>
          </a:xfrm>
          <a:prstGeom prst="ellipse">
            <a:avLst/>
          </a:prstGeom>
          <a:solidFill>
            <a:srgbClr val="5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50A050"/>
                </a:solidFill>
              </a:defRPr>
            </a:pPr>
            <a:r>
              <a:t>Prédictive — Anticipation via les données</a:t>
            </a:r>
          </a:p>
          <a:p>
            <a:pPr>
              <a:defRPr sz="1000">
                <a:solidFill>
                  <a:srgbClr val="6B6B6B"/>
                </a:solidFill>
              </a:defRPr>
            </a:pPr>
            <a:r>
              <a:t>Limite : Nécessite données et modèles IA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977640"/>
            <a:ext cx="365760" cy="365760"/>
          </a:xfrm>
          <a:prstGeom prst="ellipse">
            <a:avLst/>
          </a:prstGeom>
          <a:solidFill>
            <a:srgbClr val="50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5078A0"/>
                </a:solidFill>
              </a:defRPr>
            </a:pPr>
            <a:r>
              <a:t>Prescriptive — L'IA recommande l'action</a:t>
            </a:r>
          </a:p>
          <a:p>
            <a:pPr>
              <a:defRPr sz="1000">
                <a:solidFill>
                  <a:srgbClr val="6B6B6B"/>
                </a:solidFill>
              </a:defRPr>
            </a:pPr>
            <a:r>
              <a:t>Limite : Niveau de maturité encore faible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754880"/>
            <a:ext cx="11247120" cy="1097280"/>
          </a:xfrm>
          <a:prstGeom prst="round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B6B6B"/>
                </a:solidFill>
              </a:defRPr>
            </a:pPr>
            <a:r>
              <a:t>Impact : 70% des pannes sont précédées de signaux détectables | Marché mondial &gt; $630 milliards d'ici 2028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</a:defRPr>
            </a:pPr>
            <a:r>
              <a:t>SECTION 01 — Contexte général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</a:defRPr>
            </a:pPr>
            <a:r>
              <a:t>Le problème fondamental : des données utiles mais inaccessibles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822960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463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D2D2D"/>
                </a:solidFill>
              </a:defRPr>
            </a:pPr>
            <a:r>
              <a:t>Confidentialité</a:t>
            </a:r>
          </a:p>
          <a:p>
            <a:pPr>
              <a:defRPr sz="1100">
                <a:solidFill>
                  <a:srgbClr val="6B6B6B"/>
                </a:solidFill>
              </a:defRPr>
            </a:pPr>
            <a:r>
              <a:t>Données de production stratégiquement sensibles — aucun opérateur ne partage avec ses concurrents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14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D2D2D"/>
                </a:solidFill>
              </a:defRPr>
            </a:pPr>
            <a:r>
              <a:t>Réglementations</a:t>
            </a:r>
          </a:p>
          <a:p>
            <a:pPr>
              <a:defRPr sz="1100">
                <a:solidFill>
                  <a:srgbClr val="6B6B6B"/>
                </a:solidFill>
              </a:defRPr>
            </a:pPr>
            <a:r>
              <a:t>RGPD et réglementations sectorielles encadrent strictement les transferts de données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5661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D2D2D"/>
                </a:solidFill>
              </a:defRPr>
            </a:pPr>
            <a:r>
              <a:t>Volume</a:t>
            </a:r>
          </a:p>
          <a:p>
            <a:pPr>
              <a:defRPr sz="1100">
                <a:solidFill>
                  <a:srgbClr val="6B6B6B"/>
                </a:solidFill>
              </a:defRPr>
            </a:pPr>
            <a:r>
              <a:t>Parc d'éoliennes = dizaines de GO/jour — centralisation impraticable et coûteuse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709160"/>
            <a:ext cx="457200" cy="457200"/>
          </a:xfrm>
          <a:prstGeom prst="ellipse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617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D2D2D"/>
                </a:solidFill>
              </a:defRPr>
            </a:pPr>
            <a:r>
              <a:t>Hétérogénéité</a:t>
            </a:r>
          </a:p>
          <a:p>
            <a:pPr>
              <a:defRPr sz="1100">
                <a:solidFill>
                  <a:srgbClr val="6B6B6B"/>
                </a:solidFill>
              </a:defRPr>
            </a:pPr>
            <a:r>
              <a:t>SCADA éolien ≠ données HVAC ≠ acoustique production — formats et patterns différents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760720"/>
            <a:ext cx="11247120" cy="82296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50A0"/>
                </a:solidFill>
              </a:defRPr>
            </a:pPr>
            <a:r>
              <a:t>Question centrale : Comment entraîner de bons modèles sans jamais voir les données brutes des autres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</a:defRPr>
            </a:pPr>
            <a:r>
              <a:t>SECTION 01 — Contexte général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</a:defRPr>
            </a:pPr>
            <a:r>
              <a:t>Positionnement de la thèse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822960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00400" cy="1645920"/>
          </a:xfrm>
          <a:prstGeom prst="roundRect">
            <a:avLst/>
          </a:prstGeom>
          <a:solidFill>
            <a:srgbClr val="E6F0FA"/>
          </a:solidFill>
          <a:ln w="2540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2D2D2D"/>
                </a:solidFill>
              </a:defRPr>
            </a:pPr>
            <a:r>
              <a:t>Federated Learning</a:t>
            </a:r>
          </a:p>
          <a:p>
            <a:br/>
            <a:pPr algn="ctr">
              <a:defRPr sz="1000">
                <a:solidFill>
                  <a:srgbClr val="6B6B6B"/>
                </a:solidFill>
              </a:defRPr>
            </a:pPr>
            <a:r>
              <a:t>Entraînement collectif</a:t>
            </a:r>
            <a:br/>
            <a:r>
              <a:t>sans centralisation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828800"/>
            <a:ext cx="3200400" cy="1645920"/>
          </a:xfrm>
          <a:prstGeom prst="roundRect">
            <a:avLst/>
          </a:prstGeom>
          <a:solidFill>
            <a:srgbClr val="E6FAF0"/>
          </a:solidFill>
          <a:ln w="2540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2D2D2D"/>
                </a:solidFill>
              </a:defRPr>
            </a:pPr>
            <a:r>
              <a:t>Foundation Models TS</a:t>
            </a:r>
          </a:p>
          <a:p>
            <a:br/>
            <a:pPr algn="ctr">
              <a:defRPr sz="1000">
                <a:solidFill>
                  <a:srgbClr val="6B6B6B"/>
                </a:solidFill>
              </a:defRPr>
            </a:pPr>
            <a:r>
              <a:t>Modèles pré-entraînés</a:t>
            </a:r>
            <a:br/>
            <a:r>
              <a:t>zero-shot/few-shot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4572000"/>
            <a:ext cx="3200400" cy="1645920"/>
          </a:xfrm>
          <a:prstGeom prst="roundRect">
            <a:avLst/>
          </a:prstGeom>
          <a:solidFill>
            <a:srgbClr val="FAF0E6"/>
          </a:solidFill>
          <a:ln w="2540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2D2D2D"/>
                </a:solidFill>
              </a:defRPr>
            </a:pPr>
            <a:r>
              <a:t>Maintenance Prédictive</a:t>
            </a:r>
          </a:p>
          <a:p>
            <a:br/>
            <a:pPr algn="ctr">
              <a:defRPr sz="1000">
                <a:solidFill>
                  <a:srgbClr val="6B6B6B"/>
                </a:solidFill>
              </a:defRPr>
            </a:pPr>
            <a:r>
              <a:t>Multi-domaine :</a:t>
            </a:r>
            <a:br/>
            <a:r>
              <a:t>éolien, HVAC, manufacture</a:t>
            </a:r>
          </a:p>
        </p:txBody>
      </p:sp>
      <p:sp>
        <p:nvSpPr>
          <p:cNvPr id="8" name="Oval 7"/>
          <p:cNvSpPr/>
          <p:nvPr/>
        </p:nvSpPr>
        <p:spPr>
          <a:xfrm>
            <a:off x="4389120" y="2743200"/>
            <a:ext cx="3200400" cy="1463040"/>
          </a:xfrm>
          <a:prstGeom prst="ellipse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CETTE THÈSE</a:t>
            </a:r>
          </a:p>
          <a:p>
            <a:br/>
            <a:pPr algn="ctr">
              <a:defRPr sz="1100">
                <a:solidFill>
                  <a:srgbClr val="FFFFFF"/>
                </a:solidFill>
              </a:defRPr>
            </a:pPr>
            <a:r>
              <a:t>FL + TS FMs + Maintenance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486400"/>
            <a:ext cx="11247120" cy="1097280"/>
          </a:xfrm>
          <a:prstGeom prst="roundRect">
            <a:avLst/>
          </a:prstGeom>
          <a:solidFill>
            <a:srgbClr val="FAFAFA"/>
          </a:solidFill>
          <a:ln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6B6B6B"/>
                </a:solidFill>
              </a:defRPr>
            </a:pPr>
            <a:r>
              <a:t>Proposition centrale : un Foundation Model entraînable de façon fédérée sur des données industrielles hétérogènes, adaptable à plusieurs domaines sans que les données brutes ne quittent les sites locaux.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</a:defRPr>
            </a:pPr>
            <a:r>
              <a:t>SECTION 02 — Concepts de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</a:defRPr>
            </a:pPr>
            <a:r>
              <a:t>Federated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822960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286000" cy="1097280"/>
          </a:xfrm>
          <a:prstGeom prst="roundRect">
            <a:avLst/>
          </a:prstGeom>
          <a:solidFill>
            <a:srgbClr val="E6F0FA"/>
          </a:solidFill>
          <a:ln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B6B6B"/>
                </a:solidFill>
              </a:defRPr>
            </a:pPr>
            <a:r>
              <a:t>Client 1</a:t>
            </a:r>
            <a:br/>
            <a:r>
              <a:t>(Données locales)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2286000" cy="1097280"/>
          </a:xfrm>
          <a:prstGeom prst="roundRect">
            <a:avLst/>
          </a:prstGeom>
          <a:solidFill>
            <a:srgbClr val="E6F0FA"/>
          </a:solidFill>
          <a:ln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B6B6B"/>
                </a:solidFill>
              </a:defRPr>
            </a:pPr>
            <a:r>
              <a:t>Client 2</a:t>
            </a:r>
            <a:br/>
            <a:r>
              <a:t>(Données locales)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2286000" cy="1097280"/>
          </a:xfrm>
          <a:prstGeom prst="roundRect">
            <a:avLst/>
          </a:prstGeom>
          <a:solidFill>
            <a:srgbClr val="E6F0FA"/>
          </a:solidFill>
          <a:ln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B6B6B"/>
                </a:solidFill>
              </a:defRPr>
            </a:pPr>
            <a:r>
              <a:t>Client 3</a:t>
            </a:r>
            <a:br/>
            <a:r>
              <a:t>(Données locales)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26080" y="2377440"/>
            <a:ext cx="1097280" cy="365760"/>
          </a:xfrm>
          <a:prstGeom prst="rightArrow">
            <a:avLst/>
          </a:prstGeom>
          <a:solidFill>
            <a:srgbClr val="1E5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2926080" y="3749040"/>
            <a:ext cx="1097280" cy="365760"/>
          </a:xfrm>
          <a:prstGeom prst="rightArrow">
            <a:avLst/>
          </a:prstGeom>
          <a:solidFill>
            <a:srgbClr val="1E5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2926080" y="5120640"/>
            <a:ext cx="1097280" cy="365760"/>
          </a:xfrm>
          <a:prstGeom prst="rightArrow">
            <a:avLst/>
          </a:prstGeom>
          <a:solidFill>
            <a:srgbClr val="1E5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2743200"/>
            <a:ext cx="2743200" cy="1371600"/>
          </a:xfrm>
          <a:prstGeom prst="round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SERVEUR</a:t>
            </a:r>
          </a:p>
          <a:p>
            <a:br/>
            <a:pPr algn="ctr">
              <a:defRPr sz="1100">
                <a:solidFill>
                  <a:srgbClr val="FFFFFF"/>
                </a:solidFill>
              </a:defRPr>
            </a:pPr>
            <a:r>
              <a:t>Agrégation FedAvg / FedProx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8288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D2D2D"/>
                </a:solidFill>
              </a:defRPr>
            </a:pPr>
            <a:r>
              <a:t>Points clés</a:t>
            </a:r>
          </a:p>
          <a:p>
            <a:pPr>
              <a:spcAft>
                <a:spcPts val="600"/>
              </a:spcAft>
              <a:defRPr sz="1200">
                <a:solidFill>
                  <a:srgbClr val="6B6B6B"/>
                </a:solidFill>
              </a:defRPr>
            </a:pPr>
            <a:r>
              <a:t>• Données restent locales</a:t>
            </a:r>
          </a:p>
          <a:p>
            <a:pPr>
              <a:spcAft>
                <a:spcPts val="600"/>
              </a:spcAft>
              <a:defRPr sz="1200">
                <a:solidFill>
                  <a:srgbClr val="6B6B6B"/>
                </a:solidFill>
              </a:defRPr>
            </a:pPr>
            <a:r>
              <a:t>• Partage des mises à jour (poids/gradients)</a:t>
            </a:r>
          </a:p>
          <a:p>
            <a:pPr>
              <a:spcAft>
                <a:spcPts val="600"/>
              </a:spcAft>
              <a:defRPr sz="1200">
                <a:solidFill>
                  <a:srgbClr val="6B6B6B"/>
                </a:solidFill>
              </a:defRPr>
            </a:pPr>
            <a:r>
              <a:t>• Agrégation périodique</a:t>
            </a:r>
          </a:p>
          <a:p>
            <a:pPr>
              <a:spcAft>
                <a:spcPts val="600"/>
              </a:spcAft>
              <a:defRPr sz="1200">
                <a:solidFill>
                  <a:srgbClr val="6B6B6B"/>
                </a:solidFill>
              </a:defRPr>
            </a:pPr>
            <a:r>
              <a:t>• Robustesse non-IID (FedProx)</a:t>
            </a:r>
          </a:p>
          <a:p>
            <a:pPr>
              <a:spcAft>
                <a:spcPts val="600"/>
              </a:spcAft>
              <a:defRPr sz="1200">
                <a:solidFill>
                  <a:srgbClr val="6B6B6B"/>
                </a:solidFill>
              </a:defRPr>
            </a:pPr>
            <a:r>
              <a:t>• Préservation confidentialité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</a:defRPr>
            </a:pPr>
            <a:r>
              <a:t>SECTION 02 — Concepts de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</a:defRPr>
            </a:pPr>
            <a:r>
              <a:t>Foundation Models pour séries temporelles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822960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554480" cy="457200"/>
          </a:xfrm>
          <a:prstGeom prst="rect">
            <a:avLst/>
          </a:prstGeom>
          <a:solidFill>
            <a:srgbClr val="1E50A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Modèle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3120" y="1463040"/>
            <a:ext cx="1463040" cy="457200"/>
          </a:xfrm>
          <a:prstGeom prst="rect">
            <a:avLst/>
          </a:prstGeom>
          <a:solidFill>
            <a:srgbClr val="1E50A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Année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463040"/>
            <a:ext cx="2194560" cy="457200"/>
          </a:xfrm>
          <a:prstGeom prst="rect">
            <a:avLst/>
          </a:prstGeom>
          <a:solidFill>
            <a:srgbClr val="1E50A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Entraînement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463040"/>
            <a:ext cx="2194560" cy="457200"/>
          </a:xfrm>
          <a:prstGeom prst="rect">
            <a:avLst/>
          </a:prstGeom>
          <a:solidFill>
            <a:srgbClr val="1E50A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Tâches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463040"/>
            <a:ext cx="1371600" cy="457200"/>
          </a:xfrm>
          <a:prstGeom prst="rect">
            <a:avLst/>
          </a:prstGeom>
          <a:solidFill>
            <a:srgbClr val="1E50A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Params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1554480" cy="59436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TimesFM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2011680"/>
            <a:ext cx="1463040" cy="59436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2024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2011680"/>
            <a:ext cx="2194560" cy="59436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100Mds points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2011680"/>
            <a:ext cx="2194560" cy="59436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Prévision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011680"/>
            <a:ext cx="1371600" cy="59436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200M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51760"/>
            <a:ext cx="1554480" cy="594360"/>
          </a:xfrm>
          <a:prstGeom prst="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Moirai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03120" y="2651760"/>
            <a:ext cx="1463040" cy="594360"/>
          </a:xfrm>
          <a:prstGeom prst="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2024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2651760"/>
            <a:ext cx="2194560" cy="594360"/>
          </a:xfrm>
          <a:prstGeom prst="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320M points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2651760"/>
            <a:ext cx="2194560" cy="594360"/>
          </a:xfrm>
          <a:prstGeom prst="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Prév. + Anomalie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651760"/>
            <a:ext cx="1371600" cy="594360"/>
          </a:xfrm>
          <a:prstGeom prst="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32-480M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291840"/>
            <a:ext cx="1554480" cy="59436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MOMENT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3291840"/>
            <a:ext cx="1463040" cy="59436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2024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3291840"/>
            <a:ext cx="2194560" cy="59436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Time-Series Pile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3291840"/>
            <a:ext cx="2194560" cy="59436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Prév. + Classif.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291840"/>
            <a:ext cx="1371600" cy="59436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385M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931920"/>
            <a:ext cx="1554480" cy="594360"/>
          </a:xfrm>
          <a:prstGeom prst="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Lag-Llama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03120" y="3931920"/>
            <a:ext cx="1463040" cy="594360"/>
          </a:xfrm>
          <a:prstGeom prst="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2023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0" y="3931920"/>
            <a:ext cx="2194560" cy="594360"/>
          </a:xfrm>
          <a:prstGeom prst="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Features lagged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3931920"/>
            <a:ext cx="2194560" cy="594360"/>
          </a:xfrm>
          <a:prstGeom prst="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Prévision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3931920"/>
            <a:ext cx="1371600" cy="594360"/>
          </a:xfrm>
          <a:prstGeom prst="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~100M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572000"/>
            <a:ext cx="1554480" cy="59436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UniTime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03120" y="4572000"/>
            <a:ext cx="1463040" cy="59436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2023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0" y="4572000"/>
            <a:ext cx="2194560" cy="59436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Domain prompts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4572000"/>
            <a:ext cx="2194560" cy="59436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Prévision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4572000"/>
            <a:ext cx="1371600" cy="59436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ND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303520"/>
            <a:ext cx="11247120" cy="731520"/>
          </a:xfrm>
          <a:prstGeom prst="roundRect">
            <a:avLst/>
          </a:prstGeom>
          <a:solidFill>
            <a:srgbClr val="F0F8FF"/>
          </a:solidFill>
          <a:ln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E50A0"/>
                </a:solidFill>
              </a:defRPr>
            </a:pPr>
            <a:r>
              <a:t>Capacité zero-shot / few-shot — un modèle unique pour nombreux équipements industriels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</a:defRPr>
            </a:pPr>
            <a:r>
              <a:t>SECTION 02 — Concepts de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</a:defRPr>
            </a:pPr>
            <a:r>
              <a:t>Maintenance prédictive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822960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11247120" cy="8686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2D2D2D"/>
                </a:solidFill>
              </a:defRPr>
            </a:pPr>
            <a:r>
              <a:t>Détection d'anomalies</a:t>
            </a:r>
          </a:p>
          <a:p>
            <a:pPr>
              <a:defRPr sz="1100">
                <a:solidFill>
                  <a:srgbClr val="6B6B6B"/>
                </a:solidFill>
              </a:defRPr>
            </a:pPr>
            <a:r>
              <a:t>Identifier un comportement anormal dans les signaux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468880"/>
            <a:ext cx="11247120" cy="868680"/>
          </a:xfrm>
          <a:prstGeom prst="roundRect">
            <a:avLst/>
          </a:prstGeom>
          <a:solidFill>
            <a:srgbClr val="FAFAFA"/>
          </a:solidFill>
          <a:ln w="3810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E50A0"/>
                </a:solidFill>
              </a:defRPr>
            </a:pPr>
            <a:r>
              <a:t>Classification de défaillances ★</a:t>
            </a:r>
          </a:p>
          <a:p>
            <a:pPr>
              <a:defRPr sz="1100">
                <a:solidFill>
                  <a:srgbClr val="6B6B6B"/>
                </a:solidFill>
              </a:defRPr>
            </a:pPr>
            <a:r>
              <a:t>Reconnaître le type de panne (tâche principale)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474720"/>
            <a:ext cx="11247120" cy="8686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2D2D2D"/>
                </a:solidFill>
              </a:defRPr>
            </a:pPr>
            <a:r>
              <a:t>Estimation RUL</a:t>
            </a:r>
          </a:p>
          <a:p>
            <a:pPr>
              <a:defRPr sz="1100">
                <a:solidFill>
                  <a:srgbClr val="6B6B6B"/>
                </a:solidFill>
              </a:defRPr>
            </a:pPr>
            <a:r>
              <a:t>Prédire la durée de vie résiduelle avant panne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480560"/>
            <a:ext cx="11247120" cy="8686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2D2D2D"/>
                </a:solidFill>
              </a:defRPr>
            </a:pPr>
            <a:r>
              <a:t>Prévision état de santé</a:t>
            </a:r>
          </a:p>
          <a:p>
            <a:pPr>
              <a:defRPr sz="1100">
                <a:solidFill>
                  <a:srgbClr val="6B6B6B"/>
                </a:solidFill>
              </a:defRPr>
            </a:pPr>
            <a:r>
              <a:t>Suivre l'évolution globale de l'équipement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303520"/>
            <a:ext cx="11247120" cy="1188720"/>
          </a:xfrm>
          <a:prstGeom prst="roundRect">
            <a:avLst/>
          </a:prstGeom>
          <a:solidFill>
            <a:srgbClr val="FFF5F0"/>
          </a:solidFill>
          <a:ln>
            <a:solidFill>
              <a:srgbClr val="B46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965032"/>
                </a:solidFill>
              </a:defRPr>
            </a:pPr>
            <a:r>
              <a:t>Difficultés spécifiques aux données industrielles</a:t>
            </a:r>
          </a:p>
          <a:p>
            <a:pPr>
              <a:defRPr sz="1100">
                <a:solidFill>
                  <a:srgbClr val="6B6B6B"/>
                </a:solidFill>
              </a:defRPr>
            </a:pPr>
            <a:r>
              <a:t>Multivariées • Non-stationnaires • Classes déséquilibrées • Bruit de capteurs • Fréquences hétérogènes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</a:defRPr>
            </a:pPr>
            <a:r>
              <a:t>SECTION 03 — État de l'art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</a:defRPr>
            </a:pPr>
            <a:r>
              <a:t>Cartographie du domaine de recherche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822960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194560" cy="457200"/>
          </a:xfrm>
          <a:prstGeom prst="rect">
            <a:avLst/>
          </a:prstGeom>
          <a:solidFill>
            <a:srgbClr val="1E50A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Domaine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463040"/>
            <a:ext cx="4572000" cy="457200"/>
          </a:xfrm>
          <a:prstGeom prst="rect">
            <a:avLst/>
          </a:prstGeom>
          <a:solidFill>
            <a:srgbClr val="1E50A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Description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463040"/>
            <a:ext cx="1828800" cy="457200"/>
          </a:xfrm>
          <a:prstGeom prst="rect">
            <a:avLst/>
          </a:prstGeom>
          <a:solidFill>
            <a:srgbClr val="1E50A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Maturité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0" y="1463040"/>
            <a:ext cx="1828800" cy="457200"/>
          </a:xfrm>
          <a:prstGeom prst="rect">
            <a:avLst/>
          </a:prstGeom>
          <a:solidFill>
            <a:srgbClr val="1E50A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Nb. travaux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2194560" cy="640080"/>
          </a:xfrm>
          <a:prstGeom prst="rect">
            <a:avLst/>
          </a:prstGeom>
          <a:solidFill>
            <a:srgbClr val="C8DCF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FL général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011680"/>
            <a:ext cx="4572000" cy="640080"/>
          </a:xfrm>
          <a:prstGeom prst="rect">
            <a:avLst/>
          </a:prstGeom>
          <a:solidFill>
            <a:srgbClr val="C8DCF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FedAvg/FedProx, privacy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2011680"/>
            <a:ext cx="1828800" cy="640080"/>
          </a:xfrm>
          <a:prstGeom prst="rect">
            <a:avLst/>
          </a:prstGeom>
          <a:solidFill>
            <a:srgbClr val="C8DCF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Mature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0" y="2011680"/>
            <a:ext cx="1828800" cy="640080"/>
          </a:xfrm>
          <a:prstGeom prst="rect">
            <a:avLst/>
          </a:prstGeom>
          <a:solidFill>
            <a:srgbClr val="C8DCF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1000+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97480"/>
            <a:ext cx="2194560" cy="640080"/>
          </a:xfrm>
          <a:prstGeom prst="rect">
            <a:avLst/>
          </a:prstGeom>
          <a:solidFill>
            <a:srgbClr val="F0E6C8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TS FMs centr.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2697480"/>
            <a:ext cx="4572000" cy="640080"/>
          </a:xfrm>
          <a:prstGeom prst="rect">
            <a:avLst/>
          </a:prstGeom>
          <a:solidFill>
            <a:srgbClr val="F0E6C8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TimesFM, Moirai, MOMENT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2697480"/>
            <a:ext cx="1828800" cy="640080"/>
          </a:xfrm>
          <a:prstGeom prst="rect">
            <a:avLst/>
          </a:prstGeom>
          <a:solidFill>
            <a:srgbClr val="F0E6C8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Émergent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0" y="2697480"/>
            <a:ext cx="1828800" cy="640080"/>
          </a:xfrm>
          <a:prstGeom prst="rect">
            <a:avLst/>
          </a:prstGeom>
          <a:solidFill>
            <a:srgbClr val="F0E6C8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~8 mod.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83280"/>
            <a:ext cx="2194560" cy="640080"/>
          </a:xfrm>
          <a:prstGeom prst="rect">
            <a:avLst/>
          </a:prstGeom>
          <a:solidFill>
            <a:srgbClr val="F0E6C8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FL NLP/Vision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3383280"/>
            <a:ext cx="4572000" cy="640080"/>
          </a:xfrm>
          <a:prstGeom prst="rect">
            <a:avLst/>
          </a:prstGeom>
          <a:solidFill>
            <a:srgbClr val="F0E6C8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LoRA fédéré, adapters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3383280"/>
            <a:ext cx="1828800" cy="640080"/>
          </a:xfrm>
          <a:prstGeom prst="rect">
            <a:avLst/>
          </a:prstGeom>
          <a:solidFill>
            <a:srgbClr val="F0E6C8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Émergent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0" y="3383280"/>
            <a:ext cx="1828800" cy="640080"/>
          </a:xfrm>
          <a:prstGeom prst="rect">
            <a:avLst/>
          </a:prstGeom>
          <a:solidFill>
            <a:srgbClr val="F0E6C8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~50 trav.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69080"/>
            <a:ext cx="2194560" cy="640080"/>
          </a:xfrm>
          <a:prstGeom prst="rect">
            <a:avLst/>
          </a:prstGeom>
          <a:solidFill>
            <a:srgbClr val="F0D2C8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FL maintenance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4069080"/>
            <a:ext cx="4572000" cy="640080"/>
          </a:xfrm>
          <a:prstGeom prst="rect">
            <a:avLst/>
          </a:prstGeom>
          <a:solidFill>
            <a:srgbClr val="F0D2C8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Pruckovskaja, OASEES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4069080"/>
            <a:ext cx="1828800" cy="640080"/>
          </a:xfrm>
          <a:prstGeom prst="rect">
            <a:avLst/>
          </a:prstGeom>
          <a:solidFill>
            <a:srgbClr val="F0D2C8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Initial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4069080"/>
            <a:ext cx="1828800" cy="640080"/>
          </a:xfrm>
          <a:prstGeom prst="rect">
            <a:avLst/>
          </a:prstGeom>
          <a:solidFill>
            <a:srgbClr val="F0D2C8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~10 trav.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754880"/>
            <a:ext cx="2194560" cy="640080"/>
          </a:xfrm>
          <a:prstGeom prst="rect">
            <a:avLst/>
          </a:prstGeom>
          <a:solidFill>
            <a:srgbClr val="F0B4B4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FL + TS FMs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4754880"/>
            <a:ext cx="4572000" cy="640080"/>
          </a:xfrm>
          <a:prstGeom prst="rect">
            <a:avLst/>
          </a:prstGeom>
          <a:solidFill>
            <a:srgbClr val="F0B4B4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Time-FFM, Ali, FedForecaster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4754880"/>
            <a:ext cx="1828800" cy="640080"/>
          </a:xfrm>
          <a:prstGeom prst="rect">
            <a:avLst/>
          </a:prstGeom>
          <a:solidFill>
            <a:srgbClr val="F0B4B4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Quasi vide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4754880"/>
            <a:ext cx="1828800" cy="640080"/>
          </a:xfrm>
          <a:prstGeom prst="rect">
            <a:avLst/>
          </a:prstGeom>
          <a:solidFill>
            <a:srgbClr val="F0B4B4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3 travaux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440680"/>
            <a:ext cx="2194560" cy="640080"/>
          </a:xfrm>
          <a:prstGeom prst="rect">
            <a:avLst/>
          </a:prstGeom>
          <a:solidFill>
            <a:srgbClr val="DC9696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FL + TS FMs + Maint.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440680"/>
            <a:ext cx="4572000" cy="640080"/>
          </a:xfrm>
          <a:prstGeom prst="rect">
            <a:avLst/>
          </a:prstGeom>
          <a:solidFill>
            <a:srgbClr val="DC9696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———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9" y="5440680"/>
            <a:ext cx="1828800" cy="640080"/>
          </a:xfrm>
          <a:prstGeom prst="rect">
            <a:avLst/>
          </a:prstGeom>
          <a:solidFill>
            <a:srgbClr val="DC9696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B43C3C"/>
                </a:solidFill>
              </a:defRPr>
            </a:pPr>
            <a:r>
              <a:t>VIERGE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0" y="5440680"/>
            <a:ext cx="1828800" cy="640080"/>
          </a:xfrm>
          <a:prstGeom prst="rect">
            <a:avLst/>
          </a:prstGeom>
          <a:solidFill>
            <a:srgbClr val="DC9696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B43C3C"/>
                </a:solidFill>
              </a:defRPr>
            </a:pPr>
            <a:r>
              <a:t>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</a:defRPr>
            </a:pPr>
            <a:r>
              <a:t>SECTION 03 — État de l'art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</a:defRPr>
            </a:pPr>
            <a:r>
              <a:t>Limitations des TS FMs pour l'industrie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822960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731520" cy="731520"/>
          </a:xfrm>
          <a:prstGeom prst="round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463040"/>
            <a:ext cx="10332720" cy="731520"/>
          </a:xfrm>
          <a:prstGeom prst="round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2D2D2D"/>
                </a:solidFill>
              </a:defRPr>
            </a:pPr>
            <a:r>
              <a:t>Distribution des données</a:t>
            </a:r>
          </a:p>
          <a:p>
            <a:pPr>
              <a:defRPr sz="1000">
                <a:solidFill>
                  <a:srgbClr val="6B6B6B"/>
                </a:solidFill>
              </a:defRPr>
            </a:pPr>
            <a:r>
              <a:t>Pré-entraînement sur données publiques (météo, finance), pas industrielles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731520" cy="731520"/>
          </a:xfrm>
          <a:prstGeom prst="round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377440"/>
            <a:ext cx="10332720" cy="731520"/>
          </a:xfrm>
          <a:prstGeom prst="round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2D2D2D"/>
                </a:solidFill>
              </a:defRPr>
            </a:pPr>
            <a:r>
              <a:t>Support multivarié limité</a:t>
            </a:r>
          </a:p>
          <a:p>
            <a:pPr>
              <a:defRPr sz="1000">
                <a:solidFill>
                  <a:srgbClr val="6B6B6B"/>
                </a:solidFill>
              </a:defRPr>
            </a:pPr>
            <a:r>
              <a:t>Conçus pour univariés, industrie = 100+ capteurs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91840"/>
            <a:ext cx="731520" cy="731520"/>
          </a:xfrm>
          <a:prstGeom prst="round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291840"/>
            <a:ext cx="10332720" cy="731520"/>
          </a:xfrm>
          <a:prstGeom prst="round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2D2D2D"/>
                </a:solidFill>
              </a:defRPr>
            </a:pPr>
            <a:r>
              <a:t>Absence évaluation maintenance</a:t>
            </a:r>
          </a:p>
          <a:p>
            <a:pPr>
              <a:defRPr sz="1000">
                <a:solidFill>
                  <a:srgbClr val="6B6B6B"/>
                </a:solidFill>
              </a:defRPr>
            </a:pPr>
            <a:r>
              <a:t>Pas de classification défaillances industrielle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06240"/>
            <a:ext cx="731520" cy="731520"/>
          </a:xfrm>
          <a:prstGeom prst="round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206240"/>
            <a:ext cx="10332720" cy="731520"/>
          </a:xfrm>
          <a:prstGeom prst="round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2D2D2D"/>
                </a:solidFill>
              </a:defRPr>
            </a:pPr>
            <a:r>
              <a:t>Non-conception FL</a:t>
            </a:r>
          </a:p>
          <a:p>
            <a:pPr>
              <a:defRPr sz="1000">
                <a:solidFill>
                  <a:srgbClr val="6B6B6B"/>
                </a:solidFill>
              </a:defRPr>
            </a:pPr>
            <a:r>
              <a:t>Pas de propriétés federation-friendly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212080"/>
            <a:ext cx="11247120" cy="9144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Écart de performance estimé : 25-50% de perte sans fine-tuning sur données industrielles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</a:defRPr>
            </a:pPr>
            <a:r>
              <a:t>SECTION 03 — État de l'art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</a:defRPr>
            </a:pPr>
            <a:r>
              <a:t>Les 3 travaux FL + TS FMs existants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822960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011680" cy="457200"/>
          </a:xfrm>
          <a:prstGeom prst="rect">
            <a:avLst/>
          </a:prstGeom>
          <a:solidFill>
            <a:srgbClr val="1E50A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Travail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1463040"/>
            <a:ext cx="1280160" cy="457200"/>
          </a:xfrm>
          <a:prstGeom prst="rect">
            <a:avLst/>
          </a:prstGeom>
          <a:solidFill>
            <a:srgbClr val="1E50A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Venue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1463040"/>
            <a:ext cx="2377440" cy="457200"/>
          </a:xfrm>
          <a:prstGeom prst="rect">
            <a:avLst/>
          </a:prstGeom>
          <a:solidFill>
            <a:srgbClr val="1E50A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Approche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1737360" cy="457200"/>
          </a:xfrm>
          <a:prstGeom prst="rect">
            <a:avLst/>
          </a:prstGeom>
          <a:solidFill>
            <a:srgbClr val="1E50A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Domaine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463040"/>
            <a:ext cx="2926080" cy="457200"/>
          </a:xfrm>
          <a:prstGeom prst="rect">
            <a:avLst/>
          </a:prstGeom>
          <a:solidFill>
            <a:srgbClr val="1E50A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Limite clé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2011680" cy="777240"/>
          </a:xfrm>
          <a:prstGeom prst="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6B6B6B"/>
                </a:solidFill>
              </a:defRPr>
            </a:pPr>
            <a:r>
              <a:t>Time-FFM (Liu 2024)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2011680"/>
            <a:ext cx="1280160" cy="777240"/>
          </a:xfrm>
          <a:prstGeom prst="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6B6B6B"/>
                </a:solidFill>
              </a:defRPr>
            </a:pPr>
            <a:r>
              <a:t>NeurIPS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2011680"/>
            <a:ext cx="2377440" cy="777240"/>
          </a:xfrm>
          <a:prstGeom prst="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6B6B6B"/>
                </a:solidFill>
              </a:defRPr>
            </a:pPr>
            <a:r>
              <a:t>FM fédéré natif, LLM reprogrammé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011680"/>
            <a:ext cx="1737360" cy="777240"/>
          </a:xfrm>
          <a:prstGeom prst="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6B6B6B"/>
                </a:solidFill>
              </a:defRPr>
            </a:pPr>
            <a:r>
              <a:t>Générique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011680"/>
            <a:ext cx="2926080" cy="777240"/>
          </a:xfrm>
          <a:prstGeom prst="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6B6B6B"/>
                </a:solidFill>
              </a:defRPr>
            </a:pPr>
            <a:r>
              <a:t>Pas de maintenance, pas de LoRA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34640"/>
            <a:ext cx="2011680" cy="77724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6B6B6B"/>
                </a:solidFill>
              </a:defRPr>
            </a:pPr>
            <a:r>
              <a:t>Ali et al. (2025)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2834640"/>
            <a:ext cx="1280160" cy="77724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6B6B6B"/>
                </a:solidFill>
              </a:defRPr>
            </a:pPr>
            <a:r>
              <a:t>arXiv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2834640"/>
            <a:ext cx="2377440" cy="77724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6B6B6B"/>
                </a:solidFill>
              </a:defRPr>
            </a:pPr>
            <a:r>
              <a:t>Fine-tuning fédéré Chronos/TimesFM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834640"/>
            <a:ext cx="1737360" cy="77724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6B6B6B"/>
                </a:solidFill>
              </a:defRPr>
            </a:pPr>
            <a:r>
              <a:t>Médical ECG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834640"/>
            <a:ext cx="2926080" cy="77724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6B6B6B"/>
                </a:solidFill>
              </a:defRPr>
            </a:pPr>
            <a:r>
              <a:t>FedAvg standard, pas solution non-IID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57600"/>
            <a:ext cx="2011680" cy="777240"/>
          </a:xfrm>
          <a:prstGeom prst="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6B6B6B"/>
                </a:solidFill>
              </a:defRPr>
            </a:pPr>
            <a:r>
              <a:t>FedForecaster (Maher 2025)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3657600"/>
            <a:ext cx="1280160" cy="777240"/>
          </a:xfrm>
          <a:prstGeom prst="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6B6B6B"/>
                </a:solidFill>
              </a:defRPr>
            </a:pPr>
            <a:r>
              <a:t>EDBT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3657600"/>
            <a:ext cx="2377440" cy="777240"/>
          </a:xfrm>
          <a:prstGeom prst="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6B6B6B"/>
                </a:solidFill>
              </a:defRPr>
            </a:pPr>
            <a:r>
              <a:t>AutoML fédéré, méta-modèle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657600"/>
            <a:ext cx="1737360" cy="777240"/>
          </a:xfrm>
          <a:prstGeom prst="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6B6B6B"/>
                </a:solidFill>
              </a:defRPr>
            </a:pPr>
            <a:r>
              <a:t>Générique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657600"/>
            <a:ext cx="2926080" cy="777240"/>
          </a:xfrm>
          <a:prstGeom prst="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6B6B6B"/>
                </a:solidFill>
              </a:defRPr>
            </a:pPr>
            <a:r>
              <a:t>Pas un vrai FM, pas cross-domaine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029200"/>
            <a:ext cx="11247120" cy="822960"/>
          </a:xfrm>
          <a:prstGeom prst="roundRect">
            <a:avLst/>
          </a:prstGeom>
          <a:solidFill>
            <a:srgbClr val="FFF0F0"/>
          </a:solidFill>
          <a:ln w="25400">
            <a:solidFill>
              <a:srgbClr val="B4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B43C3C"/>
                </a:solidFill>
              </a:defRPr>
            </a:pPr>
            <a:r>
              <a:t>Conclusion : Aucun travail ne combine FL + TS FM + Maintenance industrielle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</a:defRPr>
            </a:pPr>
            <a:r>
              <a:t>SECTION 03 — État de l'art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</a:defRPr>
            </a:pPr>
            <a:r>
              <a:t>Stratégies PEFT fédérées (inspiration NLP/Vision)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822960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737360" cy="457200"/>
          </a:xfrm>
          <a:prstGeom prst="rect">
            <a:avLst/>
          </a:prstGeom>
          <a:solidFill>
            <a:srgbClr val="1E50A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Méthode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463040"/>
            <a:ext cx="1280160" cy="457200"/>
          </a:xfrm>
          <a:prstGeom prst="rect">
            <a:avLst/>
          </a:prstGeom>
          <a:solidFill>
            <a:srgbClr val="1E50A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Année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463040"/>
            <a:ext cx="4023360" cy="457200"/>
          </a:xfrm>
          <a:prstGeom prst="rect">
            <a:avLst/>
          </a:prstGeom>
          <a:solidFill>
            <a:srgbClr val="1E50A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Approche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1463040"/>
            <a:ext cx="2651760" cy="457200"/>
          </a:xfrm>
          <a:prstGeom prst="rect">
            <a:avLst/>
          </a:prstGeom>
          <a:solidFill>
            <a:srgbClr val="1E50A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Gain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1737360" cy="64008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FedCLIP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011680"/>
            <a:ext cx="1280160" cy="64008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Wang 2023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2011680"/>
            <a:ext cx="4023360" cy="64008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Adapters sur backbone gelé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011680"/>
            <a:ext cx="2651760" cy="64008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283× vitesse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97480"/>
            <a:ext cx="1737360" cy="640080"/>
          </a:xfrm>
          <a:prstGeom prst="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FedOPAL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2697480"/>
            <a:ext cx="1280160" cy="640080"/>
          </a:xfrm>
          <a:prstGeom prst="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Tupper 2025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2697480"/>
            <a:ext cx="4023360" cy="640080"/>
          </a:xfrm>
          <a:prstGeom prst="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Dual LoRA global + personnel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2697480"/>
            <a:ext cx="2651760" cy="640080"/>
          </a:xfrm>
          <a:prstGeom prst="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Personnalisation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83280"/>
            <a:ext cx="1737360" cy="64008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FDLoRA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3383280"/>
            <a:ext cx="1280160" cy="64008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Qi 2024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3383280"/>
            <a:ext cx="4023360" cy="64008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Fusion adaptative post-agrégation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3383280"/>
            <a:ext cx="2651760" cy="64008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Meilleure perf.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69080"/>
            <a:ext cx="1737360" cy="640080"/>
          </a:xfrm>
          <a:prstGeom prst="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HeLoRA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4069080"/>
            <a:ext cx="1280160" cy="640080"/>
          </a:xfrm>
          <a:prstGeom prst="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Fan 2025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4069080"/>
            <a:ext cx="4023360" cy="640080"/>
          </a:xfrm>
          <a:prstGeom prst="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Rangs LoRA hétérogènes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4069080"/>
            <a:ext cx="2651760" cy="640080"/>
          </a:xfrm>
          <a:prstGeom prst="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Flexibilité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754880"/>
            <a:ext cx="1737360" cy="64008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FedQLoRA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4754880"/>
            <a:ext cx="1280160" cy="64008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Hu 2025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0" y="4754880"/>
            <a:ext cx="4023360" cy="64008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Quantization-aware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4754880"/>
            <a:ext cx="2651760" cy="64008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Robustesse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669280"/>
            <a:ext cx="11247120" cy="822960"/>
          </a:xfrm>
          <a:prstGeom prst="roundRect">
            <a:avLst/>
          </a:prstGeom>
          <a:solidFill>
            <a:srgbClr val="F0F8FF"/>
          </a:solidFill>
          <a:ln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E50A0"/>
                </a:solidFill>
              </a:defRPr>
            </a:pPr>
            <a:r>
              <a:t>Techniques PEFT (LoRA, adapters) transférables aux séries temporelles — première combinaison recherchée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</a:defRPr>
            </a:pPr>
            <a:r>
              <a:t>SECTION 04 — Problématiques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</a:defRPr>
            </a:pPr>
            <a:r>
              <a:t>Les quatre problématiques identifiées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822960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1005840"/>
          </a:xfrm>
          <a:prstGeom prst="roundRect">
            <a:avLst/>
          </a:prstGeom>
          <a:solidFill>
            <a:srgbClr val="F0C8C8"/>
          </a:solidFill>
          <a:ln w="2540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2D2D2D"/>
                </a:solidFill>
              </a:defRPr>
            </a:pPr>
            <a:r>
              <a:t>P1 (RQ1) — Personnalisation fédérée sur données hétérogènes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14600"/>
            <a:ext cx="11247120" cy="1005840"/>
          </a:xfrm>
          <a:prstGeom prst="roundRect">
            <a:avLst/>
          </a:prstGeom>
          <a:solidFill>
            <a:srgbClr val="F0DCC8"/>
          </a:solidFill>
          <a:ln w="2540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2D2D2D"/>
                </a:solidFill>
              </a:defRPr>
            </a:pPr>
            <a:r>
              <a:t>P2 (RQ2) — Absence de benchmark fédéré standardisé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657600"/>
            <a:ext cx="11247120" cy="1005840"/>
          </a:xfrm>
          <a:prstGeom prst="roundRect">
            <a:avLst/>
          </a:prstGeom>
          <a:solidFill>
            <a:srgbClr val="C8DCF0"/>
          </a:solidFill>
          <a:ln w="2540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2D2D2D"/>
                </a:solidFill>
              </a:defRPr>
            </a:pPr>
            <a:r>
              <a:t>P3 (RQ3) — Incompatibilité architecturale TS FMs avec FL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800600"/>
            <a:ext cx="11247120" cy="1005840"/>
          </a:xfrm>
          <a:prstGeom prst="roundRect">
            <a:avLst/>
          </a:prstGeom>
          <a:solidFill>
            <a:srgbClr val="DCF0DC"/>
          </a:solidFill>
          <a:ln w="2540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2D2D2D"/>
                </a:solidFill>
              </a:defRPr>
            </a:pPr>
            <a:r>
              <a:t>P4 (RQ4) — Inadéquation aux données industrielles réelles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</a:defRPr>
            </a:pPr>
            <a:r>
              <a:t>SECTION 04 — Problématiques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</a:defRPr>
            </a:pPr>
            <a:r>
              <a:t>Synthèse : carte des gaps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822960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8503920" cy="457200"/>
          </a:xfrm>
          <a:prstGeom prst="rect">
            <a:avLst/>
          </a:prstGeom>
          <a:solidFill>
            <a:srgbClr val="1E50A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Gap identifié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0" y="1463040"/>
            <a:ext cx="2743200" cy="457200"/>
          </a:xfrm>
          <a:prstGeom prst="rect">
            <a:avLst/>
          </a:prstGeom>
          <a:solidFill>
            <a:srgbClr val="1E50A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Sévérité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8503920" cy="548640"/>
          </a:xfrm>
          <a:prstGeom prst="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Entraînement fédéré de TS FMs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2103120"/>
            <a:ext cx="2194560" cy="36576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FFFFFF"/>
                </a:solidFill>
              </a:defRPr>
            </a:pPr>
            <a:r>
              <a:t>Critique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06040"/>
            <a:ext cx="8503920" cy="548640"/>
          </a:xfrm>
          <a:prstGeom prst="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TS FMs pour maintenance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0" y="2697480"/>
            <a:ext cx="2194560" cy="36576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FFFFFF"/>
                </a:solidFill>
              </a:defRPr>
            </a:pPr>
            <a:r>
              <a:t>Critique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8503920" cy="548640"/>
          </a:xfrm>
          <a:prstGeom prst="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TS FMs sur non-IID hétérogène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3291840"/>
            <a:ext cx="2194560" cy="36576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FFFFFF"/>
                </a:solidFill>
              </a:defRPr>
            </a:pPr>
            <a:r>
              <a:t>Critique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94760"/>
            <a:ext cx="8503920" cy="548640"/>
          </a:xfrm>
          <a:prstGeom prst="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PEFT (LoRA/adapters) pour TS FMs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0" y="3886200"/>
            <a:ext cx="2194560" cy="36576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FFFFFF"/>
                </a:solidFill>
              </a:defRPr>
            </a:pPr>
            <a:r>
              <a:t>Critique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389120"/>
            <a:ext cx="8503920" cy="548640"/>
          </a:xfrm>
          <a:prstGeom prst="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Généralisation cross-domaine fédérée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8320" y="4480560"/>
            <a:ext cx="2194560" cy="36576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FFFFFF"/>
                </a:solidFill>
              </a:defRPr>
            </a:pPr>
            <a:r>
              <a:t>Majeur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983480"/>
            <a:ext cx="8503920" cy="548640"/>
          </a:xfrm>
          <a:prstGeom prst="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Benchmark fédéré multi-domaine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5074920"/>
            <a:ext cx="2194560" cy="36576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FFFFFF"/>
                </a:solidFill>
              </a:defRPr>
            </a:pPr>
            <a:r>
              <a:t>Majeur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577840"/>
            <a:ext cx="8503920" cy="548640"/>
          </a:xfrm>
          <a:prstGeom prst="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Privacy (DP + FL + TS FMs)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5669280"/>
            <a:ext cx="2194560" cy="365760"/>
          </a:xfrm>
          <a:prstGeom prst="round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FFFFFF"/>
                </a:solidFill>
              </a:defRPr>
            </a:pPr>
            <a:r>
              <a:t>Modéré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</a:defRPr>
            </a:pPr>
            <a:r>
              <a:t>SECTION 05 —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</a:defRPr>
            </a:pPr>
            <a:r>
              <a:t>Contributions envisagées (C1-C4)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822960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640080" cy="457200"/>
          </a:xfrm>
          <a:prstGeom prst="rect">
            <a:avLst/>
          </a:prstGeom>
          <a:solidFill>
            <a:srgbClr val="1E50A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ID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1463040"/>
            <a:ext cx="2560320" cy="457200"/>
          </a:xfrm>
          <a:prstGeom prst="rect">
            <a:avLst/>
          </a:prstGeom>
          <a:solidFill>
            <a:srgbClr val="1E50A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Contribution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1463040"/>
            <a:ext cx="4663440" cy="457200"/>
          </a:xfrm>
          <a:prstGeom prst="rect">
            <a:avLst/>
          </a:prstGeom>
          <a:solidFill>
            <a:srgbClr val="1E50A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Description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0" y="1463040"/>
            <a:ext cx="914400" cy="457200"/>
          </a:xfrm>
          <a:prstGeom prst="rect">
            <a:avLst/>
          </a:prstGeom>
          <a:solidFill>
            <a:srgbClr val="1E50A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RQ</a:t>
            </a:r>
          </a:p>
        </p:txBody>
      </p:sp>
      <p:sp>
        <p:nvSpPr>
          <p:cNvPr id="9" name="Rectangle 8"/>
          <p:cNvSpPr/>
          <p:nvPr/>
        </p:nvSpPr>
        <p:spPr>
          <a:xfrm>
            <a:off x="9875520" y="1463040"/>
            <a:ext cx="1554480" cy="457200"/>
          </a:xfrm>
          <a:prstGeom prst="rect">
            <a:avLst/>
          </a:prstGeom>
          <a:solidFill>
            <a:srgbClr val="1E50A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Période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640080" cy="731520"/>
          </a:xfrm>
          <a:prstGeom prst="rect">
            <a:avLst/>
          </a:prstGeom>
          <a:solidFill>
            <a:srgbClr val="E6F0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B6B6B"/>
                </a:solidFill>
              </a:defRPr>
            </a:pPr>
            <a:r>
              <a:t>C1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2011680"/>
            <a:ext cx="2560320" cy="731520"/>
          </a:xfrm>
          <a:prstGeom prst="rect">
            <a:avLst/>
          </a:prstGeom>
          <a:solidFill>
            <a:srgbClr val="E6F0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FedPEFT-TS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2011680"/>
            <a:ext cx="4663440" cy="731520"/>
          </a:xfrm>
          <a:prstGeom prst="rect">
            <a:avLst/>
          </a:prstGeom>
          <a:solidFill>
            <a:srgbClr val="E6F0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Personnalisation fédérée (LoRA + prompts)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2011680"/>
            <a:ext cx="914400" cy="731520"/>
          </a:xfrm>
          <a:prstGeom prst="rect">
            <a:avLst/>
          </a:prstGeom>
          <a:solidFill>
            <a:srgbClr val="E6F0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RQ1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75520" y="2011680"/>
            <a:ext cx="1554480" cy="731520"/>
          </a:xfrm>
          <a:prstGeom prst="rect">
            <a:avLst/>
          </a:prstGeom>
          <a:solidFill>
            <a:srgbClr val="E6F0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An 1-2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88920"/>
            <a:ext cx="640080" cy="731520"/>
          </a:xfrm>
          <a:prstGeom prst="rect">
            <a:avLst/>
          </a:prstGeom>
          <a:solidFill>
            <a:srgbClr val="F0FA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B6B6B"/>
                </a:solidFill>
              </a:defRPr>
            </a:pPr>
            <a:r>
              <a:t>C2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2788920"/>
            <a:ext cx="2560320" cy="731520"/>
          </a:xfrm>
          <a:prstGeom prst="rect">
            <a:avLst/>
          </a:prstGeom>
          <a:solidFill>
            <a:srgbClr val="F0FA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FedTS-Bench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2788920"/>
            <a:ext cx="4663440" cy="731520"/>
          </a:xfrm>
          <a:prstGeom prst="rect">
            <a:avLst/>
          </a:prstGeom>
          <a:solidFill>
            <a:srgbClr val="F0FA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Benchmark fédéré maintenance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2788920"/>
            <a:ext cx="914400" cy="731520"/>
          </a:xfrm>
          <a:prstGeom prst="rect">
            <a:avLst/>
          </a:prstGeom>
          <a:solidFill>
            <a:srgbClr val="F0FA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RQ2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75520" y="2788920"/>
            <a:ext cx="1554480" cy="731520"/>
          </a:xfrm>
          <a:prstGeom prst="rect">
            <a:avLst/>
          </a:prstGeom>
          <a:solidFill>
            <a:srgbClr val="F0FA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An 1-2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66160"/>
            <a:ext cx="640080" cy="731520"/>
          </a:xfrm>
          <a:prstGeom prst="rect">
            <a:avLst/>
          </a:prstGeom>
          <a:solidFill>
            <a:srgbClr val="FFF8E1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B6B6B"/>
                </a:solidFill>
              </a:defRPr>
            </a:pPr>
            <a:r>
              <a:t>C3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720" y="3566160"/>
            <a:ext cx="2560320" cy="731520"/>
          </a:xfrm>
          <a:prstGeom prst="rect">
            <a:avLst/>
          </a:prstGeom>
          <a:solidFill>
            <a:srgbClr val="FFF8E1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FedTSFM-Arch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3566160"/>
            <a:ext cx="4663440" cy="731520"/>
          </a:xfrm>
          <a:prstGeom prst="rect">
            <a:avLst/>
          </a:prstGeom>
          <a:solidFill>
            <a:srgbClr val="FFF8E1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Architecture TS FM native FL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3566160"/>
            <a:ext cx="914400" cy="731520"/>
          </a:xfrm>
          <a:prstGeom prst="rect">
            <a:avLst/>
          </a:prstGeom>
          <a:solidFill>
            <a:srgbClr val="FFF8E1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RQ3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5520" y="3566160"/>
            <a:ext cx="1554480" cy="731520"/>
          </a:xfrm>
          <a:prstGeom prst="rect">
            <a:avLst/>
          </a:prstGeom>
          <a:solidFill>
            <a:srgbClr val="FFF8E1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An 2-3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343400"/>
            <a:ext cx="640080" cy="731520"/>
          </a:xfrm>
          <a:prstGeom prst="rect">
            <a:avLst/>
          </a:prstGeom>
          <a:solidFill>
            <a:srgbClr val="FFEBE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B6B6B"/>
                </a:solidFill>
              </a:defRPr>
            </a:pPr>
            <a:r>
              <a:t>C4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88720" y="4343400"/>
            <a:ext cx="2560320" cy="731520"/>
          </a:xfrm>
          <a:prstGeom prst="rect">
            <a:avLst/>
          </a:prstGeom>
          <a:solidFill>
            <a:srgbClr val="FFEBE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IndusFedFM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4343400"/>
            <a:ext cx="4663440" cy="731520"/>
          </a:xfrm>
          <a:prstGeom prst="rect">
            <a:avLst/>
          </a:prstGeom>
          <a:solidFill>
            <a:srgbClr val="FFEBE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Validation industrielle multi-domaines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4343400"/>
            <a:ext cx="914400" cy="731520"/>
          </a:xfrm>
          <a:prstGeom prst="rect">
            <a:avLst/>
          </a:prstGeom>
          <a:solidFill>
            <a:srgbClr val="FFEBE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RQ4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75520" y="4343400"/>
            <a:ext cx="1554480" cy="731520"/>
          </a:xfrm>
          <a:prstGeom prst="rect">
            <a:avLst/>
          </a:prstGeom>
          <a:solidFill>
            <a:srgbClr val="FFEBE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An 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486400"/>
            <a:ext cx="11247120" cy="822960"/>
          </a:xfrm>
          <a:prstGeom prst="round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B6B6B"/>
                </a:solidFill>
              </a:defRPr>
            </a:pPr>
            <a:r>
              <a:t>Fil conducteur : TS FM existant → Personnalisable FL (C1) → Benchmark (C2) → Architecture optimisée (C3) → Validation industrielle (C4)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</a:defRPr>
            </a:pPr>
            <a:r>
              <a:t>SECTION 05 — C1 FedPEFT-TS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</a:defRPr>
            </a:pPr>
            <a:r>
              <a:t>C1 : Personnalisation fédérée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822960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1371600"/>
          </a:xfrm>
          <a:prstGeom prst="roundRect">
            <a:avLst/>
          </a:prstGeom>
          <a:solidFill>
            <a:srgbClr val="F0F8FF"/>
          </a:solidFill>
          <a:ln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2D2D2D"/>
                </a:solidFill>
              </a:defRPr>
            </a:pPr>
            <a:r>
              <a:t>Problème : RQ1 — Personnaliser un TS FM global pour clients hétérogènes</a:t>
            </a:r>
          </a:p>
          <a:p>
            <a:pPr>
              <a:defRPr sz="1100">
                <a:solidFill>
                  <a:srgbClr val="6B6B6B"/>
                </a:solidFill>
              </a:defRPr>
            </a:pPr>
            <a:r>
              <a:t>• Partir d'un TS FM existant (Moirai ou TimesFM), geler le backbone</a:t>
            </a:r>
          </a:p>
          <a:p>
            <a:pPr>
              <a:defRPr sz="1100">
                <a:solidFill>
                  <a:srgbClr val="6B6B6B"/>
                </a:solidFill>
              </a:defRPr>
            </a:pPr>
            <a:r>
              <a:t>• Attacher modules LoRA sur couches d'attention temporelle</a:t>
            </a:r>
          </a:p>
          <a:p>
            <a:pPr>
              <a:defRPr sz="1100">
                <a:solidFill>
                  <a:srgbClr val="6B6B6B"/>
                </a:solidFill>
              </a:defRPr>
            </a:pPr>
            <a:r>
              <a:t>• Chaque client : LoRA personnel (local) + LoRA global (agrégé)</a:t>
            </a:r>
          </a:p>
          <a:p>
            <a:pPr>
              <a:defRPr sz="1100">
                <a:solidFill>
                  <a:srgbClr val="6B6B6B"/>
                </a:solidFill>
              </a:defRPr>
            </a:pPr>
            <a:r>
              <a:t>• Prompts domaine-spécifiques (inspiration UniTime, Time-FFM)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6B6B"/>
                </a:solidFill>
              </a:defRPr>
            </a:pPr>
            <a:r>
              <a:t>Approche : Federated Prompt Tuning + LoRA avec agrégation FedAvg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6B6B"/>
                </a:solidFill>
              </a:defRPr>
            </a:pPr>
            <a:r>
              <a:t>Personnalisation : LoRA spécifiques par client + prompts learnable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6B6B"/>
                </a:solidFill>
              </a:defRPr>
            </a:pPr>
            <a:r>
              <a:t>Communication : Transfert des matrices LoRA uniquement (très faible volume)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82296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✨ Première combinaison LoRA + prompts domaine + FL pour séries temporelles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</a:defRPr>
            </a:pPr>
            <a:r>
              <a:t>SECTION 05 — C2 FedTS-Bench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</a:defRPr>
            </a:pPr>
            <a:r>
              <a:t>C2 : Benchmark fédéré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822960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1097280"/>
          </a:xfrm>
          <a:prstGeom prst="roundRect">
            <a:avLst/>
          </a:prstGeom>
          <a:solidFill>
            <a:srgbClr val="FFFAF0"/>
          </a:solidFill>
          <a:ln>
            <a:solidFill>
              <a:srgbClr val="B47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966428"/>
                </a:solidFill>
              </a:defRPr>
            </a:pPr>
            <a:r>
              <a:t>Problème : RQ2 — Absence totale de benchmark standardisé</a:t>
            </a:r>
          </a:p>
          <a:p>
            <a:pPr>
              <a:defRPr sz="1100">
                <a:solidFill>
                  <a:srgbClr val="6B6B6B"/>
                </a:solidFill>
              </a:defRPr>
            </a:pPr>
            <a:r>
              <a:t>Datasets : NASA C-MAPSS (turbofan), CWRU (roulements), FEMTO-ST, SCADA éoliennes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51760"/>
            <a:ext cx="2651760" cy="822960"/>
          </a:xfrm>
          <a:prstGeom prst="round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2D2D2D"/>
                </a:solidFill>
              </a:defRPr>
            </a:pPr>
            <a:r>
              <a:t>NASA C-MAPSS</a:t>
            </a:r>
          </a:p>
          <a:p>
            <a:pPr algn="ctr">
              <a:defRPr sz="900">
                <a:solidFill>
                  <a:srgbClr val="6B6B6B"/>
                </a:solidFill>
              </a:defRPr>
            </a:pPr>
            <a:r>
              <a:t>Turbofan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2651760"/>
            <a:ext cx="2651760" cy="822960"/>
          </a:xfrm>
          <a:prstGeom prst="round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2D2D2D"/>
                </a:solidFill>
              </a:defRPr>
            </a:pPr>
            <a:r>
              <a:t>CWRU</a:t>
            </a:r>
          </a:p>
          <a:p>
            <a:pPr algn="ctr">
              <a:defRPr sz="900">
                <a:solidFill>
                  <a:srgbClr val="6B6B6B"/>
                </a:solidFill>
              </a:defRPr>
            </a:pPr>
            <a:r>
              <a:t>Roulements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651760"/>
            <a:ext cx="2651760" cy="822960"/>
          </a:xfrm>
          <a:prstGeom prst="round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2D2D2D"/>
                </a:solidFill>
              </a:defRPr>
            </a:pPr>
            <a:r>
              <a:t>FEMTO-ST</a:t>
            </a:r>
          </a:p>
          <a:p>
            <a:pPr algn="ctr">
              <a:defRPr sz="900">
                <a:solidFill>
                  <a:srgbClr val="6B6B6B"/>
                </a:solidFill>
              </a:defRPr>
            </a:pPr>
            <a:r>
              <a:t>Dégradation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2651760"/>
            <a:ext cx="2651760" cy="822960"/>
          </a:xfrm>
          <a:prstGeom prst="round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2D2D2D"/>
                </a:solidFill>
              </a:defRPr>
            </a:pPr>
            <a:r>
              <a:t>SCADA Éoliennes</a:t>
            </a:r>
          </a:p>
          <a:p>
            <a:pPr algn="ctr">
              <a:defRPr sz="900">
                <a:solidFill>
                  <a:srgbClr val="6B6B6B"/>
                </a:solidFill>
              </a:defRPr>
            </a:pPr>
            <a:r>
              <a:t>EDP Renewables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2D2D2D"/>
                </a:solidFill>
              </a:defRPr>
            </a:pPr>
            <a:r>
              <a:t>Métriques adaptées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• F1 pondéré : Équilibre classes déséquilibrées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26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• AUC-PR : Précision-Rappel area under curve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46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• Variance dérive : Stabilité inter-clients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66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• Rounds convergence : Efficacité communication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760720"/>
            <a:ext cx="11247120" cy="640080"/>
          </a:xfrm>
          <a:prstGeom prst="roundRect">
            <a:avLst/>
          </a:prstGeom>
          <a:solidFill>
            <a:srgbClr val="F0F8FF"/>
          </a:solidFill>
          <a:ln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E50A0"/>
                </a:solidFill>
              </a:defRPr>
            </a:pPr>
            <a:r>
              <a:t>Livrable : Splits de datasets + code d'évaluation open-source — première ressource communautaire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</a:defRPr>
            </a:pPr>
            <a:r>
              <a:t>SECTION 05 — C3 + C4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</a:defRPr>
            </a:pPr>
            <a:r>
              <a:t>Architecture native FL + Validation industrielle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822960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3017520"/>
          </a:xfrm>
          <a:prstGeom prst="roundRect">
            <a:avLst/>
          </a:prstGeom>
          <a:solidFill>
            <a:srgbClr val="F0F8FF"/>
          </a:solidFill>
          <a:ln w="3810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E50A0"/>
                </a:solidFill>
              </a:defRPr>
            </a:pPr>
            <a:r>
              <a:t>C3 — FedTSFM-Arch</a:t>
            </a:r>
          </a:p>
          <a:p>
            <a:br/>
            <a:pPr>
              <a:defRPr sz="1200">
                <a:solidFill>
                  <a:srgbClr val="2D2D2D"/>
                </a:solidFill>
              </a:defRPr>
            </a:pPr>
            <a:r>
              <a:t>Architecture TS FM native FL</a:t>
            </a:r>
          </a:p>
          <a:p>
            <a:pPr>
              <a:defRPr sz="1000">
                <a:solidFill>
                  <a:srgbClr val="6B6B6B"/>
                </a:solidFill>
              </a:defRPr>
            </a:pPr>
            <a:r>
              <a:t>• Patching hiérarchique : Découpage adaptatif selon fréquence locale</a:t>
            </a:r>
          </a:p>
          <a:p>
            <a:pPr>
              <a:defRPr sz="1000">
                <a:solidFill>
                  <a:srgbClr val="6B6B6B"/>
                </a:solidFill>
              </a:defRPr>
            </a:pPr>
            <a:r>
              <a:t>• MoE sparse client-guidé : Experts activés par domaine client</a:t>
            </a:r>
          </a:p>
          <a:p>
            <a:pPr>
              <a:defRPr sz="1000">
                <a:solidFill>
                  <a:srgbClr val="6B6B6B"/>
                </a:solidFill>
              </a:defRPr>
            </a:pPr>
            <a:r>
              <a:t>• Mises à jour low-rank : LoRA sur query/key uniquement (×50 réduction)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486400" cy="3017520"/>
          </a:xfrm>
          <a:prstGeom prst="roundRect">
            <a:avLst/>
          </a:prstGeom>
          <a:solidFill>
            <a:srgbClr val="FFFAF0"/>
          </a:solidFill>
          <a:ln w="38100">
            <a:solidFill>
              <a:srgbClr val="B47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966428"/>
                </a:solidFill>
              </a:defRPr>
            </a:pPr>
            <a:r>
              <a:t>C4 — IndusFedFM</a:t>
            </a:r>
          </a:p>
          <a:p>
            <a:br/>
            <a:pPr>
              <a:defRPr sz="1200">
                <a:solidFill>
                  <a:srgbClr val="2D2D2D"/>
                </a:solidFill>
              </a:defRPr>
            </a:pPr>
            <a:r>
              <a:t>Validation industrielle multi-domaines</a:t>
            </a:r>
          </a:p>
          <a:p>
            <a:pPr>
              <a:defRPr sz="1000">
                <a:solidFill>
                  <a:srgbClr val="6B6B6B"/>
                </a:solidFill>
              </a:defRPr>
            </a:pPr>
            <a:r>
              <a:t>→ Intra-domaine : N clients éoliens hétérogènes</a:t>
            </a:r>
          </a:p>
          <a:p>
            <a:pPr>
              <a:defRPr sz="1000">
                <a:solidFill>
                  <a:srgbClr val="6B6B6B"/>
                </a:solidFill>
              </a:defRPr>
            </a:pPr>
            <a:r>
              <a:t>→ Cross-domaine : Éolien + HVAC + Manufacture</a:t>
            </a:r>
          </a:p>
          <a:p>
            <a:pPr>
              <a:defRPr sz="1000">
                <a:solidFill>
                  <a:srgbClr val="6B6B6B"/>
                </a:solidFill>
              </a:defRPr>
            </a:pPr>
            <a:r>
              <a:t>→ Cold-start : Nouveau client sans historique (zero-shot)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663440"/>
            <a:ext cx="11247120" cy="15544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🎯 Vision d'ensemble — FedTSFM</a:t>
            </a:r>
          </a:p>
          <a:p>
            <a:br/>
            <a:pPr algn="ctr">
              <a:defRPr sz="1200">
                <a:solidFill>
                  <a:srgbClr val="DCDCDC"/>
                </a:solidFill>
              </a:defRPr>
            </a:pPr>
            <a:r>
              <a:t>C1 (méthode) + C2 (benchmark) + C3 (architecture) + C4 (validation)</a:t>
            </a:r>
          </a:p>
          <a:p>
            <a:br/>
            <a:pPr algn="ctr">
              <a:defRPr sz="1100" i="1">
                <a:solidFill>
                  <a:srgbClr val="FFFFFF"/>
                </a:solidFill>
              </a:defRPr>
            </a:pPr>
            <a:r>
              <a:t>Un Foundation Model de Séries Temporelles entraînable de façon fédérée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</a:defRPr>
            </a:pPr>
            <a:r>
              <a:t>SECTION 06 — Publications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</a:defRPr>
            </a:pPr>
            <a:r>
              <a:t>Plan de publication : 5 publications sur 3 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822960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640080" cy="457200"/>
          </a:xfrm>
          <a:prstGeom prst="rect">
            <a:avLst/>
          </a:prstGeom>
          <a:solidFill>
            <a:srgbClr val="1E50A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1463040"/>
            <a:ext cx="7772400" cy="457200"/>
          </a:xfrm>
          <a:prstGeom prst="rect">
            <a:avLst/>
          </a:prstGeom>
          <a:solidFill>
            <a:srgbClr val="1E50A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Titre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1463040"/>
            <a:ext cx="1463040" cy="457200"/>
          </a:xfrm>
          <a:prstGeom prst="rect">
            <a:avLst/>
          </a:prstGeom>
          <a:solidFill>
            <a:srgbClr val="1E50A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0" y="1463040"/>
            <a:ext cx="1188720" cy="457200"/>
          </a:xfrm>
          <a:prstGeom prst="rect">
            <a:avLst/>
          </a:prstGeom>
          <a:solidFill>
            <a:srgbClr val="1E50A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Année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640080" cy="685800"/>
          </a:xfrm>
          <a:prstGeom prst="rect">
            <a:avLst/>
          </a:prstGeom>
          <a:solidFill>
            <a:srgbClr val="E6F0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P0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2011680"/>
            <a:ext cx="7772400" cy="685800"/>
          </a:xfrm>
          <a:prstGeom prst="rect">
            <a:avLst/>
          </a:prstGeom>
          <a:solidFill>
            <a:srgbClr val="E6F0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Data-Centric FL for Wind Turbine PdM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2011680"/>
            <a:ext cx="1463040" cy="685800"/>
          </a:xfrm>
          <a:prstGeom prst="rect">
            <a:avLst/>
          </a:prstGeom>
          <a:solidFill>
            <a:srgbClr val="E6F0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Master → Journal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0" y="2011680"/>
            <a:ext cx="1188720" cy="685800"/>
          </a:xfrm>
          <a:prstGeom prst="rect">
            <a:avLst/>
          </a:prstGeom>
          <a:solidFill>
            <a:srgbClr val="E6F0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43200"/>
            <a:ext cx="640080" cy="685800"/>
          </a:xfrm>
          <a:prstGeom prst="rect">
            <a:avLst/>
          </a:prstGeom>
          <a:solidFill>
            <a:srgbClr val="F0FA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P1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720" y="2743200"/>
            <a:ext cx="7772400" cy="685800"/>
          </a:xfrm>
          <a:prstGeom prst="rect">
            <a:avLst/>
          </a:prstGeom>
          <a:solidFill>
            <a:srgbClr val="F0FA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Literature Review FL+TS FMs for Ind. Maint.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2743200"/>
            <a:ext cx="1463040" cy="685800"/>
          </a:xfrm>
          <a:prstGeom prst="rect">
            <a:avLst/>
          </a:prstGeom>
          <a:solidFill>
            <a:srgbClr val="F0FA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SLR, Journal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0" y="2743200"/>
            <a:ext cx="1188720" cy="685800"/>
          </a:xfrm>
          <a:prstGeom prst="rect">
            <a:avLst/>
          </a:prstGeom>
          <a:solidFill>
            <a:srgbClr val="F0FA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An 1-2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74720"/>
            <a:ext cx="640080" cy="685800"/>
          </a:xfrm>
          <a:prstGeom prst="rect">
            <a:avLst/>
          </a:prstGeom>
          <a:solidFill>
            <a:srgbClr val="FAF5F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P2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88720" y="3474720"/>
            <a:ext cx="7772400" cy="685800"/>
          </a:xfrm>
          <a:prstGeom prst="rect">
            <a:avLst/>
          </a:prstGeom>
          <a:solidFill>
            <a:srgbClr val="FAF5F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FedTS-Bench: A Federated Benchmark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3474720"/>
            <a:ext cx="1463040" cy="685800"/>
          </a:xfrm>
          <a:prstGeom prst="rect">
            <a:avLst/>
          </a:prstGeom>
          <a:solidFill>
            <a:srgbClr val="FAF5F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Conférence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0" y="3474720"/>
            <a:ext cx="1188720" cy="685800"/>
          </a:xfrm>
          <a:prstGeom prst="rect">
            <a:avLst/>
          </a:prstGeom>
          <a:solidFill>
            <a:srgbClr val="FAF5F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An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06240"/>
            <a:ext cx="640080" cy="685800"/>
          </a:xfrm>
          <a:prstGeom prst="rect">
            <a:avLst/>
          </a:prstGeom>
          <a:solidFill>
            <a:srgbClr val="FFF0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B6B6B"/>
                </a:solidFill>
              </a:defRPr>
            </a:pPr>
            <a:r>
              <a:t>P3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88720" y="4206240"/>
            <a:ext cx="7772400" cy="685800"/>
          </a:xfrm>
          <a:prstGeom prst="rect">
            <a:avLst/>
          </a:prstGeom>
          <a:solidFill>
            <a:srgbClr val="FFF0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B6B6B"/>
                </a:solidFill>
              </a:defRPr>
            </a:pPr>
            <a:r>
              <a:t>FedTSFM-Arch: Architecture native FL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4206240"/>
            <a:ext cx="1463040" cy="685800"/>
          </a:xfrm>
          <a:prstGeom prst="rect">
            <a:avLst/>
          </a:prstGeom>
          <a:solidFill>
            <a:srgbClr val="FFF0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B6B6B"/>
                </a:solidFill>
              </a:defRPr>
            </a:pPr>
            <a:r>
              <a:t>Journal Q1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0" y="4206240"/>
            <a:ext cx="1188720" cy="685800"/>
          </a:xfrm>
          <a:prstGeom prst="rect">
            <a:avLst/>
          </a:prstGeom>
          <a:solidFill>
            <a:srgbClr val="FFF0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B6B6B"/>
                </a:solidFill>
              </a:defRPr>
            </a:pPr>
            <a:r>
              <a:t>An 2-3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937760"/>
            <a:ext cx="640080" cy="685800"/>
          </a:xfrm>
          <a:prstGeom prst="rect">
            <a:avLst/>
          </a:prstGeom>
          <a:solidFill>
            <a:srgbClr val="FFF5F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B6B6B"/>
                </a:solidFill>
              </a:defRPr>
            </a:pPr>
            <a:r>
              <a:t>P4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88720" y="4937760"/>
            <a:ext cx="7772400" cy="685800"/>
          </a:xfrm>
          <a:prstGeom prst="rect">
            <a:avLst/>
          </a:prstGeom>
          <a:solidFill>
            <a:srgbClr val="FFF5F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B6B6B"/>
                </a:solidFill>
              </a:defRPr>
            </a:pPr>
            <a:r>
              <a:t>IndusFedFM: Multi-Domain Validation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4937760"/>
            <a:ext cx="1463040" cy="685800"/>
          </a:xfrm>
          <a:prstGeom prst="rect">
            <a:avLst/>
          </a:prstGeom>
          <a:solidFill>
            <a:srgbClr val="FFF5F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B6B6B"/>
                </a:solidFill>
              </a:defRPr>
            </a:pPr>
            <a:r>
              <a:t>Journal Q1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515600" y="4937760"/>
            <a:ext cx="1188720" cy="685800"/>
          </a:xfrm>
          <a:prstGeom prst="rect">
            <a:avLst/>
          </a:prstGeom>
          <a:solidFill>
            <a:srgbClr val="FFF5F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B6B6B"/>
                </a:solidFill>
              </a:defRPr>
            </a:pPr>
            <a:r>
              <a:t>An 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852160"/>
            <a:ext cx="1124712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Fil narratif : Master → SLR (identifier gaps) → Benchmark (verrou expérimental) → Architecture (verrou archi) → Validation industrielle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</a:defRPr>
            </a:pPr>
            <a:r>
              <a:t>SECTION 06 — Stratégie de publication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</a:defRPr>
            </a:pPr>
            <a:r>
              <a:t>Conférences et journaux ciblés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822960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2926080"/>
          </a:xfrm>
          <a:prstGeom prst="roundRect">
            <a:avLst/>
          </a:prstGeom>
          <a:solidFill>
            <a:srgbClr val="F0F8FF"/>
          </a:solidFill>
          <a:ln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E50A0"/>
                </a:solidFill>
              </a:defRPr>
            </a:pPr>
            <a:r>
              <a:t>Conférences A* (soumissions rapides)</a:t>
            </a:r>
          </a:p>
          <a:p>
            <a:pPr>
              <a:defRPr sz="1100">
                <a:solidFill>
                  <a:srgbClr val="6B6B6B"/>
                </a:solidFill>
              </a:defRPr>
            </a:pPr>
            <a:r>
              <a:t>• NeurIPS — TS FMs + méthodes FL</a:t>
            </a:r>
          </a:p>
          <a:p>
            <a:pPr>
              <a:defRPr sz="1100">
                <a:solidFill>
                  <a:srgbClr val="6B6B6B"/>
                </a:solidFill>
              </a:defRPr>
            </a:pPr>
            <a:r>
              <a:t>• ICML — Architecture + PEFT fédéré</a:t>
            </a:r>
          </a:p>
          <a:p>
            <a:pPr>
              <a:defRPr sz="1100">
                <a:solidFill>
                  <a:srgbClr val="6B6B6B"/>
                </a:solidFill>
              </a:defRPr>
            </a:pPr>
            <a:r>
              <a:t>• ICLR — FL + Foundation Models</a:t>
            </a:r>
          </a:p>
          <a:p>
            <a:pPr>
              <a:defRPr sz="1100">
                <a:solidFill>
                  <a:srgbClr val="6B6B6B"/>
                </a:solidFill>
              </a:defRPr>
            </a:pPr>
            <a:r>
              <a:t>• KDD — Benchmark + application industrielle</a:t>
            </a:r>
          </a:p>
          <a:p>
            <a:pPr>
              <a:defRPr sz="1100">
                <a:solidFill>
                  <a:srgbClr val="6B6B6B"/>
                </a:solidFill>
              </a:defRPr>
            </a:pPr>
            <a:r>
              <a:t>• AAAI — FL personnalisé séries temporelles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486400" cy="2926080"/>
          </a:xfrm>
          <a:prstGeom prst="roundRect">
            <a:avLst/>
          </a:prstGeom>
          <a:solidFill>
            <a:srgbClr val="FFFAF0"/>
          </a:solidFill>
          <a:ln>
            <a:solidFill>
              <a:srgbClr val="B47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966428"/>
                </a:solidFill>
              </a:defRPr>
            </a:pPr>
            <a:r>
              <a:t>Journaux Q1 (contributions majeures)</a:t>
            </a:r>
          </a:p>
          <a:p>
            <a:pPr>
              <a:defRPr sz="1100">
                <a:solidFill>
                  <a:srgbClr val="6B6B6B"/>
                </a:solidFill>
              </a:defRPr>
            </a:pPr>
            <a:r>
              <a:t>• Neurocomputing — Q1, 28% acc., ~63 jours</a:t>
            </a:r>
          </a:p>
          <a:p>
            <a:pPr>
              <a:defRPr sz="1100">
                <a:solidFill>
                  <a:srgbClr val="6B6B6B"/>
                </a:solidFill>
              </a:defRPr>
            </a:pPr>
            <a:r>
              <a:t>• IEEE Trans. Industrial Electronics — Q1, 28%</a:t>
            </a:r>
          </a:p>
          <a:p>
            <a:pPr>
              <a:defRPr sz="1100">
                <a:solidFill>
                  <a:srgbClr val="6B6B6B"/>
                </a:solidFill>
              </a:defRPr>
            </a:pPr>
            <a:r>
              <a:t>• Machine Learning (Springer) — Q1, gratuit</a:t>
            </a:r>
          </a:p>
          <a:p>
            <a:pPr>
              <a:defRPr sz="1100">
                <a:solidFill>
                  <a:srgbClr val="6B6B6B"/>
                </a:solidFill>
              </a:defRPr>
            </a:pPr>
            <a:r>
              <a:t>• JMLR — Diamond OA, Q1</a:t>
            </a:r>
          </a:p>
          <a:p>
            <a:pPr>
              <a:defRPr sz="1100">
                <a:solidFill>
                  <a:srgbClr val="6B6B6B"/>
                </a:solidFill>
              </a:defRPr>
            </a:pPr>
            <a:r>
              <a:t>• Pattern Recognition Letters — Q2, rapide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480560"/>
            <a:ext cx="11247120" cy="1463040"/>
          </a:xfrm>
          <a:prstGeom prst="round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2D2D2D"/>
                </a:solidFill>
              </a:defRPr>
            </a:pPr>
            <a:r>
              <a:t>Stratégie de matching publications/cibles</a:t>
            </a:r>
          </a:p>
          <a:p>
            <a:pPr>
              <a:defRPr sz="1000">
                <a:solidFill>
                  <a:srgbClr val="6B6B6B"/>
                </a:solidFill>
              </a:defRPr>
            </a:pPr>
            <a:r>
              <a:t>• P0 (Master) → IEEE TII / Renewable Energy</a:t>
            </a:r>
          </a:p>
          <a:p>
            <a:pPr>
              <a:defRPr sz="1000">
                <a:solidFill>
                  <a:srgbClr val="6B6B6B"/>
                </a:solidFill>
              </a:defRPr>
            </a:pPr>
            <a:r>
              <a:t>• P1 (SLR) → Machine Learning / JMLR / Neurocomputing</a:t>
            </a:r>
          </a:p>
          <a:p>
            <a:pPr>
              <a:defRPr sz="1000">
                <a:solidFill>
                  <a:srgbClr val="6B6B6B"/>
                </a:solidFill>
              </a:defRPr>
            </a:pPr>
            <a:r>
              <a:t>• P2 (Benchmark) → Pattern Recognition Letters / KDD</a:t>
            </a:r>
          </a:p>
          <a:p>
            <a:pPr>
              <a:defRPr sz="1000">
                <a:solidFill>
                  <a:srgbClr val="6B6B6B"/>
                </a:solidFill>
              </a:defRPr>
            </a:pPr>
            <a:r>
              <a:t>• P3 (Architecture) → Neurocomputing / JMLR</a:t>
            </a:r>
          </a:p>
          <a:p>
            <a:pPr>
              <a:defRPr sz="1000">
                <a:solidFill>
                  <a:srgbClr val="6B6B6B"/>
                </a:solidFill>
              </a:defRPr>
            </a:pPr>
            <a:r>
              <a:t>• P4 (Industriel) → IEEE Trans. Industrial Electronics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D2D2D"/>
                </a:solidFill>
              </a:defRPr>
            </a:pPr>
            <a:r>
              <a:t>Merci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92608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B6B6B"/>
                </a:solidFill>
              </a:defRPr>
            </a:pPr>
            <a:r>
              <a:t>Questions et suggestions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840480"/>
            <a:ext cx="12191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2D2D2D"/>
                </a:solidFill>
              </a:defRPr>
            </a:pPr>
            <a:r>
              <a:t>Yassire AMMOURI</a:t>
            </a:r>
          </a:p>
          <a:p>
            <a:br/>
            <a:pPr algn="ctr">
              <a:defRPr sz="1200">
                <a:solidFill>
                  <a:srgbClr val="6B6B6B"/>
                </a:solidFill>
              </a:defRPr>
            </a:pPr>
            <a:r>
              <a:t>Pr. Younes Karfa Bakali, Mme Rajaa SAIDI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4864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2D2D2D"/>
                </a:solidFill>
              </a:defRPr>
            </a:pPr>
            <a:r>
              <a:t>Université Mohammed V, Faculté des Sciences de Rabat</a:t>
            </a:r>
          </a:p>
          <a:p>
            <a:pPr algn="ctr">
              <a:defRPr sz="1000">
                <a:solidFill>
                  <a:srgbClr val="6B6B6B"/>
                </a:solidFill>
              </a:defRPr>
            </a:pPr>
            <a:r>
              <a:t>LRIT - Laboratoire de Recherche en Informatique et Télécommunications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30936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99999"/>
                </a:solidFill>
              </a:defRPr>
            </a:pPr>
            <a:r>
              <a:t>Rapport d'avancement de thèse — Mars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