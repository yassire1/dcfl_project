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33333"/>
                </a:solidFill>
              </a:defRPr>
            </a:pPr>
            <a:r>
              <a:t>Federated Time Series Foundation Models</a:t>
            </a:r>
          </a:p>
          <a:p>
            <a:pPr algn="ctr">
              <a:spcBef>
                <a:spcPts val="1200"/>
              </a:spcBef>
              <a:defRPr sz="2800">
                <a:solidFill>
                  <a:srgbClr val="1E50A0"/>
                </a:solidFill>
              </a:defRPr>
            </a:pPr>
            <a:r>
              <a:t>pour la Maintenance Prédictive Industrielle Multi-Domaine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Rapport d'avancement de thèse — Première année de doctorat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b="1" sz="1600">
                <a:solidFill>
                  <a:srgbClr val="505050"/>
                </a:solidFill>
              </a:defRPr>
            </a:pPr>
            <a:r>
              <a:t>Yassire AMMOURI</a:t>
            </a:r>
          </a:p>
          <a:p>
            <a:pPr algn="ctr">
              <a:spcAft>
                <a:spcPts val="400"/>
              </a:spcAft>
              <a:defRPr sz="1200">
                <a:solidFill>
                  <a:srgbClr val="505050"/>
                </a:solidFill>
              </a:defRPr>
            </a:pPr>
            <a:r>
              <a:t>Directeur de thèse : Pr. Younes Karfa Bakali  |  Encadrant : Mme Rajaa SAIDI</a:t>
            </a:r>
          </a:p>
          <a:p>
            <a:pPr algn="ctr">
              <a:spcAft>
                <a:spcPts val="400"/>
              </a:spcAft>
              <a:defRPr sz="1200">
                <a:solidFill>
                  <a:srgbClr val="505050"/>
                </a:solidFill>
              </a:defRPr>
            </a:pPr>
            <a:r>
              <a:t>Université Mohammed V — LRIT (Laboratoire de Recherche en Informatique et Télécommunications)</a:t>
            </a:r>
          </a:p>
          <a:p>
            <a:pPr algn="ctr">
              <a:spcAft>
                <a:spcPts val="400"/>
              </a:spcAft>
              <a:defRPr sz="1200">
                <a:solidFill>
                  <a:srgbClr val="505050"/>
                </a:solidFill>
              </a:defRPr>
            </a:pPr>
            <a:r>
              <a:t>31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Vue d'ensemble : Les trois piliers de la thèse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00400" cy="1828800"/>
          </a:xfrm>
          <a:prstGeom prst="roundRect">
            <a:avLst/>
          </a:prstGeom>
          <a:solidFill>
            <a:srgbClr val="E6F0FA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33333"/>
                </a:solidFill>
              </a:defRPr>
            </a:pPr>
            <a:r>
              <a:t>Apprentissage Fédéré</a:t>
            </a:r>
          </a:p>
          <a:p>
            <a:br/>
            <a:pPr algn="ctr">
              <a:defRPr sz="1200">
                <a:solidFill>
                  <a:srgbClr val="505050"/>
                </a:solidFill>
              </a:defRPr>
            </a:pPr>
            <a:r>
              <a:t>Entraînement collaboratif sans partage de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011680"/>
            <a:ext cx="3200400" cy="1828800"/>
          </a:xfrm>
          <a:prstGeom prst="roundRect">
            <a:avLst/>
          </a:prstGeom>
          <a:solidFill>
            <a:srgbClr val="E6FAF0"/>
          </a:solidFill>
          <a:ln w="25400">
            <a:solidFill>
              <a:srgbClr val="28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33333"/>
                </a:solidFill>
              </a:defRPr>
            </a:pPr>
            <a:r>
              <a:t>Foundation Models</a:t>
            </a:r>
          </a:p>
          <a:p>
            <a:br/>
            <a:pPr algn="ctr">
              <a:defRPr sz="1200">
                <a:solidFill>
                  <a:srgbClr val="505050"/>
                </a:solidFill>
              </a:defRPr>
            </a:pPr>
            <a:r>
              <a:t>Modèles pré-entraînés pour séries temporelles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4114800"/>
            <a:ext cx="3200400" cy="1828800"/>
          </a:xfrm>
          <a:prstGeom prst="roundRect">
            <a:avLst/>
          </a:prstGeom>
          <a:solidFill>
            <a:srgbClr val="FAF0E6"/>
          </a:solidFill>
          <a:ln w="25400">
            <a:solidFill>
              <a:srgbClr val="B46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33333"/>
                </a:solidFill>
              </a:defRPr>
            </a:pPr>
            <a:r>
              <a:t>Maintenance Prédictive</a:t>
            </a:r>
          </a:p>
          <a:p>
            <a:br/>
            <a:pPr algn="ctr">
              <a:defRPr sz="1200">
                <a:solidFill>
                  <a:srgbClr val="505050"/>
                </a:solidFill>
              </a:defRPr>
            </a:pPr>
            <a:r>
              <a:t>Anticipation des pannes sur équipements industriels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926080"/>
            <a:ext cx="2103120" cy="1005840"/>
          </a:xfrm>
          <a:prstGeom prst="ellipse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Cette thèse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33333"/>
                </a:solidFill>
              </a:defRPr>
            </a:pPr>
            <a:r>
              <a:t>Timeline 3 ans</a:t>
            </a:r>
          </a:p>
          <a:p>
            <a:pPr>
              <a:spcAft>
                <a:spcPts val="600"/>
              </a:spcAft>
              <a:defRPr sz="1100">
                <a:solidFill>
                  <a:srgbClr val="505050"/>
                </a:solidFill>
              </a:defRPr>
            </a:pPr>
            <a:r>
              <a:t>• Année 1 : Article Master + SLR + Prototypage</a:t>
            </a:r>
          </a:p>
          <a:p>
            <a:pPr>
              <a:spcAft>
                <a:spcPts val="600"/>
              </a:spcAft>
              <a:defRPr sz="1100">
                <a:solidFill>
                  <a:srgbClr val="505050"/>
                </a:solidFill>
              </a:defRPr>
            </a:pPr>
            <a:r>
              <a:t>• Année 2 : Benchmark + Architecture FedTSFM</a:t>
            </a:r>
          </a:p>
          <a:p>
            <a:pPr>
              <a:spcAft>
                <a:spcPts val="600"/>
              </a:spcAft>
              <a:defRPr sz="1100">
                <a:solidFill>
                  <a:srgbClr val="505050"/>
                </a:solidFill>
              </a:defRPr>
            </a:pPr>
            <a:r>
              <a:t>• Année 3 : Validation industrielle multi-domaine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Formations et certifications suivies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100584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WIPO — DL101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Propriété intellectuelle (brevets, droits d'auteur, marques)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11247120" cy="100584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Scopus &amp; Web of Science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Maîtrise des bases bibliographiques et analyse de 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40"/>
            <a:ext cx="11247120" cy="100584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Wiley, Springer, Taylor &amp; Francis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Formation à la publication scientifique et processus éditoriaux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92040"/>
            <a:ext cx="11247120" cy="100584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Clarivate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Indicateurs bibliométriques et facteurs d'impact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43600"/>
            <a:ext cx="11247120" cy="73152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Apport concret : capacité à conduire une revue de littérature rigoureuse et identifier les journaux pertinents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Avancement de la rédaction scientifique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FFF5F0"/>
          </a:solidFill>
          <a:ln>
            <a:solidFill>
              <a:srgbClr val="C8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33333"/>
                </a:solidFill>
              </a:defRPr>
            </a:pPr>
            <a:r>
              <a:t>P0 — Article issu du Master</a:t>
            </a:r>
          </a:p>
          <a:p>
            <a:br/>
            <a:pPr>
              <a:defRPr sz="1300" i="1">
                <a:solidFill>
                  <a:srgbClr val="1E50A0"/>
                </a:solidFill>
              </a:defRPr>
            </a:pPr>
            <a:r>
              <a:t>Data-Centric FL for Wind Turbine PdM</a:t>
            </a:r>
          </a:p>
          <a:p>
            <a:br/>
            <a:pPr>
              <a:defRPr sz="1100">
                <a:solidFill>
                  <a:srgbClr val="B43C3C"/>
                </a:solidFill>
              </a:defRPr>
            </a:pPr>
            <a:r>
              <a:t>Statut : Résultats bloqués (pipeline SCADA à déboguer)</a:t>
            </a:r>
          </a:p>
          <a:p>
            <a:br/>
            <a:pPr>
              <a:defRPr sz="1100">
                <a:solidFill>
                  <a:srgbClr val="505050"/>
                </a:solidFill>
              </a:defRPr>
            </a:pPr>
            <a:r>
              <a:t>Cible : IEEE TII ou Renewable Energy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33333"/>
                </a:solidFill>
              </a:defRPr>
            </a:pPr>
            <a:r>
              <a:t>P1 — Revue systématique (SLR)</a:t>
            </a:r>
          </a:p>
          <a:p>
            <a:br/>
            <a:pPr>
              <a:defRPr sz="1300" i="1">
                <a:solidFill>
                  <a:srgbClr val="1E50A0"/>
                </a:solidFill>
              </a:defRPr>
            </a:pPr>
            <a:r>
              <a:t>FL + TS Foundation Models + Maintenance</a:t>
            </a:r>
          </a:p>
          <a:p>
            <a:br/>
            <a:pPr>
              <a:defRPr sz="1100">
                <a:solidFill>
                  <a:srgbClr val="505050"/>
                </a:solidFill>
              </a:defRPr>
            </a:pPr>
            <a:r>
              <a:t>Entonnoir PRISMA : 3,000 → 1,700 → 361 → 181 articles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206240"/>
            <a:ext cx="9144000" cy="5486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Identification: 3,000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846320"/>
            <a:ext cx="7772400" cy="548640"/>
          </a:xfrm>
          <a:prstGeom prst="round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Dédoublonnage: 1,700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486400"/>
            <a:ext cx="6400800" cy="548640"/>
          </a:xfrm>
          <a:prstGeom prst="round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Criblage titres: 361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6126480"/>
            <a:ext cx="5029200" cy="54864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Éligibilité: 181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L'évolution de la maintenance industrielle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109728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C8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C85050"/>
                </a:solidFill>
              </a:defRPr>
            </a:pPr>
            <a:r>
              <a:t>Corrective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Principe : On répare après la panne  |  Limite : Arrêts non planifiés, coûts élevés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11247120" cy="109728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C8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C8A050"/>
                </a:solidFill>
              </a:defRPr>
            </a:pPr>
            <a:r>
              <a:t>Préventive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Principe : Interventions à intervalles fixes  |  Limite : Gaspillage, interventions inutiles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11247120" cy="109728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5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50A050"/>
                </a:solidFill>
              </a:defRPr>
            </a:pPr>
            <a:r>
              <a:t>Prédictive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Principe : Anticipation via les données  |  Limite : Nécessite données et modèles 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66360"/>
            <a:ext cx="11247120" cy="109728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50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5078A0"/>
                </a:solidFill>
              </a:defRPr>
            </a:pPr>
            <a:r>
              <a:t>Prescriptive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Principe : IA recommande l'action  |  Limite : Niveau de maturité encore faible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Impact : 70% des pannes sont précédées de signaux détectables | Marché mondial &gt; $630 milliards d'ici 2028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Le paradoxe des données industrielles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505050"/>
                </a:solidFill>
              </a:defRPr>
            </a:pPr>
            <a:r>
              <a:t>Données utiles mais inaccessibles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33333"/>
                </a:solidFill>
              </a:defRPr>
            </a:pPr>
            <a:r>
              <a:t>Confidentialité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Données de production stratégiquement sensibles — aucun opérateur ne partage avec ses concurrents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33333"/>
                </a:solidFill>
              </a:defRPr>
            </a:pPr>
            <a:r>
              <a:t>Réglementations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RGPD et réglementations sectorielles encadrent strictement les transferts de données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33333"/>
                </a:solidFill>
              </a:defRPr>
            </a:pPr>
            <a:r>
              <a:t>Volume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Parc d'éoliennes = dizaines de GO/jour — centralisation impraticable et coûteuse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92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33333"/>
                </a:solidFill>
              </a:defRPr>
            </a:pPr>
            <a:r>
              <a:t>Hétérogénéité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SCADA éolien ≠ données HVAC ≠ acoustique production — formats et patterns différents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50A0"/>
                </a:solidFill>
              </a:defRPr>
            </a:pPr>
            <a:r>
              <a:t>Question centrale : Comment entraîner de bons modèles sans jamais voir les données brutes des autres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Positionnement de la thèse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200400" cy="1645920"/>
          </a:xfrm>
          <a:prstGeom prst="roundRect">
            <a:avLst/>
          </a:prstGeom>
          <a:solidFill>
            <a:srgbClr val="E6F0FA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33333"/>
                </a:solidFill>
              </a:defRPr>
            </a:pPr>
            <a:r>
              <a:t>Federated Learning</a:t>
            </a:r>
          </a:p>
          <a:p>
            <a:br/>
            <a:pPr algn="ctr">
              <a:defRPr sz="1000">
                <a:solidFill>
                  <a:srgbClr val="505050"/>
                </a:solidFill>
              </a:defRPr>
            </a:pPr>
            <a:r>
              <a:t>Entraînement collectif sans centralisation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828800"/>
            <a:ext cx="3200400" cy="1645920"/>
          </a:xfrm>
          <a:prstGeom prst="roundRect">
            <a:avLst/>
          </a:prstGeom>
          <a:solidFill>
            <a:srgbClr val="E6FAF0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33333"/>
                </a:solidFill>
              </a:defRPr>
            </a:pPr>
            <a:r>
              <a:t>Foundation Models TS</a:t>
            </a:r>
          </a:p>
          <a:p>
            <a:br/>
            <a:pPr algn="ctr">
              <a:defRPr sz="1000">
                <a:solidFill>
                  <a:srgbClr val="505050"/>
                </a:solidFill>
              </a:defRPr>
            </a:pPr>
            <a:r>
              <a:t>Modèles pré-entraînés zero-shot/few-shot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5029200"/>
            <a:ext cx="3200400" cy="1645920"/>
          </a:xfrm>
          <a:prstGeom prst="roundRect">
            <a:avLst/>
          </a:prstGeom>
          <a:solidFill>
            <a:srgbClr val="FAF0E6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33333"/>
                </a:solidFill>
              </a:defRPr>
            </a:pPr>
            <a:r>
              <a:t>Maintenance Prédictive</a:t>
            </a:r>
          </a:p>
          <a:p>
            <a:br/>
            <a:pPr algn="ctr">
              <a:defRPr sz="1000">
                <a:solidFill>
                  <a:srgbClr val="505050"/>
                </a:solidFill>
              </a:defRPr>
            </a:pPr>
            <a:r>
              <a:t>Multi-domaine : éolien, HVAC, manufacture</a:t>
            </a:r>
          </a:p>
        </p:txBody>
      </p:sp>
      <p:sp>
        <p:nvSpPr>
          <p:cNvPr id="7" name="Oval 6"/>
          <p:cNvSpPr/>
          <p:nvPr/>
        </p:nvSpPr>
        <p:spPr>
          <a:xfrm>
            <a:off x="4572000" y="2743200"/>
            <a:ext cx="3017520" cy="1463040"/>
          </a:xfrm>
          <a:prstGeom prst="ellipse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CETTE THÈSE</a:t>
            </a:r>
          </a:p>
          <a:p>
            <a:br/>
            <a:pPr algn="ctr">
              <a:defRPr sz="1100">
                <a:solidFill>
                  <a:srgbClr val="FFFFFF"/>
                </a:solidFill>
              </a:defRPr>
            </a:pPr>
            <a:r>
              <a:t>FL + TS FMs + Maintenance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FAFAFA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Proposition centrale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Un Foundation Model de séries temporelles, entraînable de façon fédérée sur des données industrielles hétérogènes, capable de s'adapter à plusieurs domaines sans que les données brutes ne quittent les sites locaux.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Concepts de base : Apprentissage Fédéré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286000" cy="1097280"/>
          </a:xfrm>
          <a:prstGeom prst="roundRect">
            <a:avLst/>
          </a:prstGeom>
          <a:solidFill>
            <a:srgbClr val="E6F0FA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Client 1</a:t>
            </a:r>
            <a:br/>
            <a:r>
              <a:t>(Données locales)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2286000" cy="1097280"/>
          </a:xfrm>
          <a:prstGeom prst="roundRect">
            <a:avLst/>
          </a:prstGeom>
          <a:solidFill>
            <a:srgbClr val="E6F0FA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Client 2</a:t>
            </a:r>
            <a:br/>
            <a:r>
              <a:t>(Données locales)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2286000" cy="1097280"/>
          </a:xfrm>
          <a:prstGeom prst="roundRect">
            <a:avLst/>
          </a:prstGeom>
          <a:solidFill>
            <a:srgbClr val="E6F0FA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05050"/>
                </a:solidFill>
              </a:defRPr>
            </a:pPr>
            <a:r>
              <a:t>Client 3</a:t>
            </a:r>
            <a:br/>
            <a:r>
              <a:t>(Données locales)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2377440"/>
            <a:ext cx="1371600" cy="365760"/>
          </a:xfrm>
          <a:prstGeom prst="rightArrow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MàJ modèle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3749040"/>
            <a:ext cx="1371600" cy="365760"/>
          </a:xfrm>
          <a:prstGeom prst="rightArrow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3474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MàJ modèle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26080" y="5120640"/>
            <a:ext cx="1371600" cy="365760"/>
          </a:xfrm>
          <a:prstGeom prst="rightArrow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4846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MàJ modèle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43200"/>
            <a:ext cx="2743200" cy="1371600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SERVEUR</a:t>
            </a:r>
          </a:p>
          <a:p>
            <a:br/>
            <a:pPr algn="ctr">
              <a:defRPr sz="1100">
                <a:solidFill>
                  <a:srgbClr val="FFFFFF"/>
                </a:solidFill>
              </a:defRPr>
            </a:pPr>
            <a:r>
              <a:t>Agrégation</a:t>
            </a:r>
            <a:br/>
            <a:r>
              <a:t>(FedAvg / FedProx)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4297680" y="2377440"/>
            <a:ext cx="1371600" cy="365760"/>
          </a:xfrm>
          <a:prstGeom prst="leftArrow">
            <a:avLst/>
          </a:prstGeom>
          <a:solidFill>
            <a:srgbClr val="64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 Arrow 14"/>
          <p:cNvSpPr/>
          <p:nvPr/>
        </p:nvSpPr>
        <p:spPr>
          <a:xfrm>
            <a:off x="4297680" y="3749040"/>
            <a:ext cx="1371600" cy="365760"/>
          </a:xfrm>
          <a:prstGeom prst="leftArrow">
            <a:avLst/>
          </a:prstGeom>
          <a:solidFill>
            <a:srgbClr val="64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ft Arrow 15"/>
          <p:cNvSpPr/>
          <p:nvPr/>
        </p:nvSpPr>
        <p:spPr>
          <a:xfrm>
            <a:off x="4297680" y="5120640"/>
            <a:ext cx="1371600" cy="365760"/>
          </a:xfrm>
          <a:prstGeom prst="leftArrow">
            <a:avLst/>
          </a:prstGeom>
          <a:solidFill>
            <a:srgbClr val="64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33333"/>
                </a:solidFill>
              </a:defRPr>
            </a:pPr>
            <a:r>
              <a:t>Points clés du FL</a:t>
            </a:r>
          </a:p>
          <a:p>
            <a:pPr>
              <a:spcAft>
                <a:spcPts val="600"/>
              </a:spcAft>
              <a:defRPr sz="1200">
                <a:solidFill>
                  <a:srgbClr val="505050"/>
                </a:solidFill>
              </a:defRPr>
            </a:pPr>
            <a:r>
              <a:t>• Données restent locales</a:t>
            </a:r>
          </a:p>
          <a:p>
            <a:pPr>
              <a:spcAft>
                <a:spcPts val="600"/>
              </a:spcAft>
              <a:defRPr sz="1200">
                <a:solidFill>
                  <a:srgbClr val="505050"/>
                </a:solidFill>
              </a:defRPr>
            </a:pPr>
            <a:r>
              <a:t>• Partage des mises à jour (gradients/poids)</a:t>
            </a:r>
          </a:p>
          <a:p>
            <a:pPr>
              <a:spcAft>
                <a:spcPts val="600"/>
              </a:spcAft>
              <a:defRPr sz="1200">
                <a:solidFill>
                  <a:srgbClr val="505050"/>
                </a:solidFill>
              </a:defRPr>
            </a:pPr>
            <a:r>
              <a:t>• Agrégation périodique sur serveur</a:t>
            </a:r>
          </a:p>
          <a:p>
            <a:pPr>
              <a:spcAft>
                <a:spcPts val="600"/>
              </a:spcAft>
              <a:defRPr sz="1200">
                <a:solidFill>
                  <a:srgbClr val="505050"/>
                </a:solidFill>
              </a:defRPr>
            </a:pPr>
            <a:r>
              <a:t>• Robustesse aux données non-IID (FedProx)</a:t>
            </a:r>
          </a:p>
          <a:p>
            <a:pPr>
              <a:spcAft>
                <a:spcPts val="600"/>
              </a:spcAft>
              <a:defRPr sz="1200">
                <a:solidFill>
                  <a:srgbClr val="505050"/>
                </a:solidFill>
              </a:defRPr>
            </a:pPr>
            <a:r>
              <a:t>• Préservation de la confidentialité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Concepts de base : Foundation Models pour séries temporelles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64592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Modèle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463040"/>
            <a:ext cx="146304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Année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1463040"/>
            <a:ext cx="210312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Entraînement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228600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Tâches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463040"/>
            <a:ext cx="137160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Params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1645920" cy="5943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TimesFM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011680"/>
            <a:ext cx="1463040" cy="5943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011680"/>
            <a:ext cx="2103120" cy="5943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100Mds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22860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Prévision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011680"/>
            <a:ext cx="13716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200M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64592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Moirai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651760"/>
            <a:ext cx="146304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651760"/>
            <a:ext cx="210312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320M 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651760"/>
            <a:ext cx="228600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Prév. + Anomalie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651760"/>
            <a:ext cx="137160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32-480M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1645920" cy="5943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MOMENT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3291840"/>
            <a:ext cx="1463040" cy="5943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2024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291840"/>
            <a:ext cx="2103120" cy="5943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Time-Series Pile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291840"/>
            <a:ext cx="22860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Prév. + Classif.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3291840"/>
            <a:ext cx="13716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385M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164592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Lag-Llama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3931920"/>
            <a:ext cx="146304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2023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931920"/>
            <a:ext cx="210312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Features lagged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931920"/>
            <a:ext cx="228600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Prévision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3931920"/>
            <a:ext cx="1371600" cy="59436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~100M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33333"/>
                </a:solidFill>
              </a:defRPr>
            </a:pPr>
            <a:r>
              <a:t>Caractéristiques clés des TS FMs</a:t>
            </a:r>
          </a:p>
          <a:p>
            <a:pPr>
              <a:spcAft>
                <a:spcPts val="400"/>
              </a:spcAft>
              <a:defRPr sz="1200">
                <a:solidFill>
                  <a:srgbClr val="505050"/>
                </a:solidFill>
              </a:defRPr>
            </a:pPr>
            <a:r>
              <a:t>• Pré-entraînement sur corpus massif de données publiques</a:t>
            </a:r>
          </a:p>
          <a:p>
            <a:pPr>
              <a:spcAft>
                <a:spcPts val="400"/>
              </a:spcAft>
              <a:defRPr sz="1200">
                <a:solidFill>
                  <a:srgbClr val="505050"/>
                </a:solidFill>
              </a:defRPr>
            </a:pPr>
            <a:r>
              <a:t>• Capacité zero-shot et few-shot (adaptation avec peu d'exemples)</a:t>
            </a:r>
          </a:p>
          <a:p>
            <a:pPr>
              <a:spcAft>
                <a:spcPts val="400"/>
              </a:spcAft>
              <a:defRPr sz="1200">
                <a:solidFill>
                  <a:srgbClr val="505050"/>
                </a:solidFill>
              </a:defRPr>
            </a:pPr>
            <a:r>
              <a:t>• Architecture Transformer (attention temporelle)</a:t>
            </a:r>
          </a:p>
          <a:p>
            <a:pPr>
              <a:spcAft>
                <a:spcPts val="400"/>
              </a:spcAft>
              <a:defRPr sz="1200">
                <a:solidFill>
                  <a:srgbClr val="505050"/>
                </a:solidFill>
              </a:defRPr>
            </a:pPr>
            <a:r>
              <a:t>• Révolution : un modèle unique pour nombreux équipements industriels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Concepts de base : Maintenance Prédictive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9144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Détection d'anomalies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Identifier un comportement anormal dans les signaux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14600"/>
            <a:ext cx="11247120" cy="9144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Classification de défaillances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Reconnaître le type de panne (tâche principale de la thèse)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66160"/>
            <a:ext cx="11247120" cy="9144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Estimation RUL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Prédire la durée de vie résiduelle avant panne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17720"/>
            <a:ext cx="11247120" cy="9144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Prévision de l'état de santé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Suivre l'évolution globale de l'équipement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03520"/>
            <a:ext cx="11247120" cy="1280160"/>
          </a:xfrm>
          <a:prstGeom prst="roundRect">
            <a:avLst/>
          </a:prstGeom>
          <a:solidFill>
            <a:srgbClr val="FFF5F0"/>
          </a:solidFill>
          <a:ln>
            <a:solidFill>
              <a:srgbClr val="B4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965032"/>
                </a:solidFill>
              </a:defRPr>
            </a:pPr>
            <a:r>
              <a:t>Difficultés spécifiques aux données industrielles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Multivariées • Non-stationnaires • Classes déséquilibrées • Bruit de capteurs • Fréquences d'échantillonnage hétérogènes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État de l'art : Cartographie du domaine de recherche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28600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Domaine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463040"/>
            <a:ext cx="457200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463040"/>
            <a:ext cx="182880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Maturité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1463040"/>
            <a:ext cx="164592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Nb. travaux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286000" cy="594360"/>
          </a:xfrm>
          <a:prstGeom prst="rect">
            <a:avLst/>
          </a:prstGeom>
          <a:solidFill>
            <a:srgbClr val="C8DC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FL général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011680"/>
            <a:ext cx="4572000" cy="594360"/>
          </a:xfrm>
          <a:prstGeom prst="rect">
            <a:avLst/>
          </a:prstGeom>
          <a:solidFill>
            <a:srgbClr val="C8DC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Algorithmes FedAvg/FedProx, hétérogénéité, privacy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011680"/>
            <a:ext cx="1828800" cy="594360"/>
          </a:xfrm>
          <a:prstGeom prst="rect">
            <a:avLst/>
          </a:prstGeom>
          <a:solidFill>
            <a:srgbClr val="C8DC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Mature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0" y="2011680"/>
            <a:ext cx="1645920" cy="594360"/>
          </a:xfrm>
          <a:prstGeom prst="rect">
            <a:avLst/>
          </a:prstGeom>
          <a:solidFill>
            <a:srgbClr val="C8DC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1000+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2286000" cy="594360"/>
          </a:xfrm>
          <a:prstGeom prst="rect">
            <a:avLst/>
          </a:prstGeom>
          <a:solidFill>
            <a:srgbClr val="F0E6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TS FMs centralisés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651760"/>
            <a:ext cx="4572000" cy="594360"/>
          </a:xfrm>
          <a:prstGeom prst="rect">
            <a:avLst/>
          </a:prstGeom>
          <a:solidFill>
            <a:srgbClr val="F0E6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TimesFM, Moirai, MOMENT, Lag-Llama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651760"/>
            <a:ext cx="1828800" cy="594360"/>
          </a:xfrm>
          <a:prstGeom prst="rect">
            <a:avLst/>
          </a:prstGeom>
          <a:solidFill>
            <a:srgbClr val="F0E6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Émergent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2651760"/>
            <a:ext cx="1645920" cy="594360"/>
          </a:xfrm>
          <a:prstGeom prst="rect">
            <a:avLst/>
          </a:prstGeom>
          <a:solidFill>
            <a:srgbClr val="F0E6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~8 modèles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286000" cy="594360"/>
          </a:xfrm>
          <a:prstGeom prst="rect">
            <a:avLst/>
          </a:prstGeom>
          <a:solidFill>
            <a:srgbClr val="F0E6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FL pour NLP/Vision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291840"/>
            <a:ext cx="4572000" cy="594360"/>
          </a:xfrm>
          <a:prstGeom prst="rect">
            <a:avLst/>
          </a:prstGeom>
          <a:solidFill>
            <a:srgbClr val="F0E6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LoRA fédéré, adapters, split learning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291840"/>
            <a:ext cx="1828800" cy="594360"/>
          </a:xfrm>
          <a:prstGeom prst="rect">
            <a:avLst/>
          </a:prstGeom>
          <a:solidFill>
            <a:srgbClr val="F0E6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Émergent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3291840"/>
            <a:ext cx="1645920" cy="594360"/>
          </a:xfrm>
          <a:prstGeom prst="rect">
            <a:avLst/>
          </a:prstGeom>
          <a:solidFill>
            <a:srgbClr val="F0E6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~50 travaux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2286000" cy="594360"/>
          </a:xfrm>
          <a:prstGeom prst="rect">
            <a:avLst/>
          </a:prstGeom>
          <a:solidFill>
            <a:srgbClr val="F0D2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FL pour maintenance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3931920"/>
            <a:ext cx="4572000" cy="594360"/>
          </a:xfrm>
          <a:prstGeom prst="rect">
            <a:avLst/>
          </a:prstGeom>
          <a:solidFill>
            <a:srgbClr val="F0D2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Pruckovskaja et al., OASEES, turbofan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3931920"/>
            <a:ext cx="1828800" cy="594360"/>
          </a:xfrm>
          <a:prstGeom prst="rect">
            <a:avLst/>
          </a:prstGeom>
          <a:solidFill>
            <a:srgbClr val="F0D2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Initial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3931920"/>
            <a:ext cx="1645920" cy="594360"/>
          </a:xfrm>
          <a:prstGeom prst="rect">
            <a:avLst/>
          </a:prstGeom>
          <a:solidFill>
            <a:srgbClr val="F0D2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~10 travaux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2286000" cy="594360"/>
          </a:xfrm>
          <a:prstGeom prst="rect">
            <a:avLst/>
          </a:prstGeom>
          <a:solidFill>
            <a:srgbClr val="F0B4B4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FL + TS FMs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572000"/>
            <a:ext cx="4572000" cy="594360"/>
          </a:xfrm>
          <a:prstGeom prst="rect">
            <a:avLst/>
          </a:prstGeom>
          <a:solidFill>
            <a:srgbClr val="F0B4B4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Time-FFM, Ali et al., FedForecaster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572000"/>
            <a:ext cx="1828800" cy="594360"/>
          </a:xfrm>
          <a:prstGeom prst="rect">
            <a:avLst/>
          </a:prstGeom>
          <a:solidFill>
            <a:srgbClr val="F0B4B4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Quasi vide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0" y="4572000"/>
            <a:ext cx="1645920" cy="594360"/>
          </a:xfrm>
          <a:prstGeom prst="rect">
            <a:avLst/>
          </a:prstGeom>
          <a:solidFill>
            <a:srgbClr val="F0B4B4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3 travaux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12080"/>
            <a:ext cx="2286000" cy="594360"/>
          </a:xfrm>
          <a:prstGeom prst="rect">
            <a:avLst/>
          </a:prstGeom>
          <a:solidFill>
            <a:srgbClr val="DC969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FL + TS FMs + Maintenance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5212080"/>
            <a:ext cx="4572000" cy="594360"/>
          </a:xfrm>
          <a:prstGeom prst="rect">
            <a:avLst/>
          </a:prstGeom>
          <a:solidFill>
            <a:srgbClr val="DC969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———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5212080"/>
            <a:ext cx="1828800" cy="594360"/>
          </a:xfrm>
          <a:prstGeom prst="rect">
            <a:avLst/>
          </a:prstGeom>
          <a:solidFill>
            <a:srgbClr val="DC969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43C3C"/>
                </a:solidFill>
              </a:defRPr>
            </a:pPr>
            <a:r>
              <a:t>VIERGE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5212080"/>
            <a:ext cx="1645920" cy="594360"/>
          </a:xfrm>
          <a:prstGeom prst="rect">
            <a:avLst/>
          </a:prstGeom>
          <a:solidFill>
            <a:srgbClr val="DC969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43C3C"/>
                </a:solidFill>
              </a:defRPr>
            </a:pPr>
            <a:r>
              <a:t>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Les trois seuls travaux à l'intersection FL + TS FMs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463040"/>
          </a:xfrm>
          <a:prstGeom prst="roundRect">
            <a:avLst/>
          </a:prstGeom>
          <a:solidFill>
            <a:srgbClr val="FAFAFA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Time-FFM — Liu et al. (2024) — NeurIPS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Approche : FM fédéré natif avec LLM reprogrammé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Modèles : Tokenization texte des séries  |  Domaine : Données génériques uniquement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Limite : Pas de maintenance, pas de LoRA/PEFT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11247120" cy="1463040"/>
          </a:xfrm>
          <a:prstGeom prst="roundRect">
            <a:avLst/>
          </a:prstGeom>
          <a:solidFill>
            <a:srgbClr val="FAFAFA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Ali et al. — Ali et al. (2025) — arXiv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Approche : Fine-tuning fédéré de modèles pré-entraînés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Modèles : Chronos, TimesFM  |  Domaine : Médical (ECG) uniquement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Limite : FedAvg standard, pas de solution non-IID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663440"/>
            <a:ext cx="11247120" cy="1463040"/>
          </a:xfrm>
          <a:prstGeom prst="roundRect">
            <a:avLst/>
          </a:prstGeom>
          <a:solidFill>
            <a:srgbClr val="FAFAFA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FedForecaster — Maher et al. (2025) — EDBT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Approche : AutoML fédéré avec méta-modèle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Modèles : Méta-modèle de recommandation  |  Domaine : Générique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Limite : Pas un vrai FM, pas de transfert cross-domaine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Problématiques identifiées : les quatre verrous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143000"/>
          </a:xfrm>
          <a:prstGeom prst="roundRect">
            <a:avLst/>
          </a:prstGeom>
          <a:solidFill>
            <a:srgbClr val="F0C8C8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33333"/>
                </a:solidFill>
              </a:defRPr>
            </a:pPr>
            <a:r>
              <a:t>P1 — Personnalisation fédérée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Comment adapter un TS FM global à des clients aux données très hétérogènes (non-IID) ? → Manque : mécanisme LoRA + prompts domaine en FL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11247120" cy="1143000"/>
          </a:xfrm>
          <a:prstGeom prst="roundRect">
            <a:avLst/>
          </a:prstGeom>
          <a:solidFill>
            <a:srgbClr val="F0DCC8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33333"/>
                </a:solidFill>
              </a:defRPr>
            </a:pPr>
            <a:r>
              <a:t>P2 — Absence de benchmark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Aucun protocole standardisé pour évaluer les TS FMs en FL → Manque : partitions non-IID réalistes, métriques maintenance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11247120" cy="1143000"/>
          </a:xfrm>
          <a:prstGeom prst="roundRect">
            <a:avLst/>
          </a:prstGeom>
          <a:solidFill>
            <a:srgbClr val="C8DCF0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33333"/>
                </a:solidFill>
              </a:defRPr>
            </a:pPr>
            <a:r>
              <a:t>P3 — Incompatibilité architecturale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Les TS FMs actuels non conçus pour les contraintes FL → Manque : patching adaptatif, MoE sparse, mises à jour low-rank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11247120" cy="1143000"/>
          </a:xfrm>
          <a:prstGeom prst="roundRect">
            <a:avLst/>
          </a:prstGeom>
          <a:solidFill>
            <a:srgbClr val="DCF0DC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33333"/>
                </a:solidFill>
              </a:defRPr>
            </a:pPr>
            <a:r>
              <a:t>P4 — Inadéquation aux données industrielles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TS FMs pré-entraînés sur données publiques (météo, finance), jamais testés sur SCADA/vibration → Manque : corpus industriel et évaluation zero-shot réelle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Questions de recherche : RQ1 &amp; RQ2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2103120"/>
          </a:xfrm>
          <a:prstGeom prst="roundRect">
            <a:avLst/>
          </a:prstGeom>
          <a:solidFill>
            <a:srgbClr val="F0F8FF"/>
          </a:solidFill>
          <a:ln w="381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50A0"/>
                </a:solidFill>
              </a:defRPr>
            </a:pPr>
            <a:r>
              <a:t>RQ1 — Personnalisation fédérée</a:t>
            </a:r>
          </a:p>
          <a:p>
            <a:br/>
            <a:pPr>
              <a:defRPr sz="1200">
                <a:solidFill>
                  <a:srgbClr val="505050"/>
                </a:solidFill>
              </a:defRPr>
            </a:pPr>
            <a:r>
              <a:t>Comment concevoir un mécanisme de personnalisation fédérée, combinant prompts domaine-spécifiques et LoRA, permettant à un TS FM de s'adapter aux distributions locales hétérogènes ?</a:t>
            </a:r>
          </a:p>
          <a:p>
            <a:br/>
            <a:pPr>
              <a:defRPr sz="1100" i="1">
                <a:solidFill>
                  <a:srgbClr val="1E50A0"/>
                </a:solidFill>
              </a:defRPr>
            </a:pPr>
            <a:r>
              <a:t>→ Approche : LoRA dual (global agrégé + local personnel) + prompts de domaine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11247120" cy="210312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B4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966428"/>
                </a:solidFill>
              </a:defRPr>
            </a:pPr>
            <a:r>
              <a:t>RQ2 — Benchmark fédéré</a:t>
            </a:r>
          </a:p>
          <a:p>
            <a:br/>
            <a:pPr>
              <a:defRPr sz="1200">
                <a:solidFill>
                  <a:srgbClr val="505050"/>
                </a:solidFill>
              </a:defRPr>
            </a:pPr>
            <a:r>
              <a:t>Quels protocoles d'évaluation et benchmarks fédérés permettent de mesurer fidèlement les capacités de généralisation cross-domaine d'un TS FM en maintenance industrielle ?</a:t>
            </a:r>
          </a:p>
          <a:p>
            <a:br/>
            <a:pPr>
              <a:defRPr sz="1100" i="1">
                <a:solidFill>
                  <a:srgbClr val="966428"/>
                </a:solidFill>
              </a:defRPr>
            </a:pPr>
            <a:r>
              <a:t>→ Approche : FedTS-Bench avec partitions non-IID, métriques F1/AUC-PR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Questions de recherche : RQ3 &amp; RQ4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2103120"/>
          </a:xfrm>
          <a:prstGeom prst="roundRect">
            <a:avLst/>
          </a:prstGeom>
          <a:solidFill>
            <a:srgbClr val="F0FFFA"/>
          </a:solidFill>
          <a:ln w="38100">
            <a:solidFill>
              <a:srgbClr val="32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87850"/>
                </a:solidFill>
              </a:defRPr>
            </a:pPr>
            <a:r>
              <a:t>RQ3 — Architecture native FL</a:t>
            </a:r>
          </a:p>
          <a:p>
            <a:br/>
            <a:pPr>
              <a:defRPr sz="1200">
                <a:solidFill>
                  <a:srgbClr val="505050"/>
                </a:solidFill>
              </a:defRPr>
            </a:pPr>
            <a:r>
              <a:t>Quelles propriétés architecturales d'un TS FM — tokenisation, attention, mise à jour — maximisent son efficacité de communication et sa convergence en FL hétérogène ?</a:t>
            </a:r>
          </a:p>
          <a:p>
            <a:br/>
            <a:pPr>
              <a:defRPr sz="1100" i="1">
                <a:solidFill>
                  <a:srgbClr val="287850"/>
                </a:solidFill>
              </a:defRPr>
            </a:pPr>
            <a:r>
              <a:t>→ Approche : FedTSFM-Arch avec patching hiérarchique, MoE sparse, LoRA query/key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11247120" cy="2103120"/>
          </a:xfrm>
          <a:prstGeom prst="roundRect">
            <a:avLst/>
          </a:prstGeom>
          <a:solidFill>
            <a:srgbClr val="FFF5FA"/>
          </a:solidFill>
          <a:ln w="38100">
            <a:solidFill>
              <a:srgbClr val="8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783C5A"/>
                </a:solidFill>
              </a:defRPr>
            </a:pPr>
            <a:r>
              <a:t>RQ4 — Données industrielles réelles</a:t>
            </a:r>
          </a:p>
          <a:p>
            <a:br/>
            <a:pPr>
              <a:defRPr sz="1200">
                <a:solidFill>
                  <a:srgbClr val="505050"/>
                </a:solidFill>
              </a:defRPr>
            </a:pPr>
            <a:r>
              <a:t>Dans quelle mesure les TS FMs actuels peuvent-ils se généraliser aux signaux industriels (SCADA, vibration, acoustique) en zero-shot ou few-shot ?</a:t>
            </a:r>
          </a:p>
          <a:p>
            <a:br/>
            <a:pPr>
              <a:defRPr sz="1100" i="1">
                <a:solidFill>
                  <a:srgbClr val="783C5A"/>
                </a:solidFill>
              </a:defRPr>
            </a:pPr>
            <a:r>
              <a:t>→ Approche : IndusFedFM — validation sur éolien, HVAC, manufacture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Contribution C1 : FedPEFT-TS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505050"/>
                </a:solidFill>
              </a:defRPr>
            </a:pPr>
            <a:r>
              <a:t>Personnalisation fédérée par LoRA + prompts de domaine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200400" cy="1371600"/>
          </a:xfrm>
          <a:prstGeom prst="roundRect">
            <a:avLst/>
          </a:prstGeom>
          <a:solidFill>
            <a:srgbClr val="E6F0FA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33333"/>
                </a:solidFill>
              </a:defRPr>
            </a:pPr>
            <a:r>
              <a:t>TS FM Backbone</a:t>
            </a:r>
          </a:p>
          <a:p>
            <a:br/>
            <a:pPr algn="ctr">
              <a:defRPr sz="1100">
                <a:solidFill>
                  <a:srgbClr val="505050"/>
                </a:solidFill>
              </a:defRPr>
            </a:pPr>
            <a:r>
              <a:t>(Moirai / TimesFM)</a:t>
            </a:r>
            <a:br/>
            <a:r>
              <a:t>Gelé — partagé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40480" y="2286000"/>
            <a:ext cx="1371600" cy="457200"/>
          </a:xfrm>
          <a:prstGeom prst="rightArrow">
            <a:avLst/>
          </a:prstGeom>
          <a:solidFill>
            <a:srgbClr val="1E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0" y="1645920"/>
            <a:ext cx="2743200" cy="1828800"/>
          </a:xfrm>
          <a:prstGeom prst="roundRect">
            <a:avLst/>
          </a:prstGeom>
          <a:solidFill>
            <a:srgbClr val="FAF0E6"/>
          </a:solidFill>
          <a:ln>
            <a:solidFill>
              <a:srgbClr val="B4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33333"/>
                </a:solidFill>
              </a:defRPr>
            </a:pPr>
            <a:r>
              <a:t>LoRA Layers</a:t>
            </a:r>
          </a:p>
          <a:p>
            <a:br/>
            <a:pPr algn="ctr">
              <a:defRPr sz="1100">
                <a:solidFill>
                  <a:srgbClr val="505050"/>
                </a:solidFill>
              </a:defRPr>
            </a:pPr>
            <a:r>
              <a:t>Global (agrégé)</a:t>
            </a:r>
            <a:br/>
            <a:r>
              <a:t>+ Local (client)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840480"/>
            <a:ext cx="2743200" cy="1097280"/>
          </a:xfrm>
          <a:prstGeom prst="roundRect">
            <a:avLst/>
          </a:prstGeom>
          <a:solidFill>
            <a:srgbClr val="E6FAF0"/>
          </a:solidFill>
          <a:ln>
            <a:solidFill>
              <a:srgbClr val="3C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33333"/>
                </a:solidFill>
              </a:defRPr>
            </a:pPr>
            <a:r>
              <a:t>Domain Prompts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011680"/>
            <a:ext cx="3017520" cy="2286000"/>
          </a:xfrm>
          <a:prstGeom prst="roundRect">
            <a:avLst/>
          </a:prstGeom>
          <a:solidFill>
            <a:srgbClr val="FFF5F0"/>
          </a:solidFill>
          <a:ln>
            <a:solidFill>
              <a:srgbClr val="A06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33333"/>
                </a:solidFill>
              </a:defRPr>
            </a:pPr>
            <a:r>
              <a:t>Client i</a:t>
            </a:r>
          </a:p>
          <a:p>
            <a:br/>
            <a:pPr algn="ctr">
              <a:defRPr sz="1100">
                <a:solidFill>
                  <a:srgbClr val="505050"/>
                </a:solidFill>
              </a:defRPr>
            </a:pPr>
            <a:r>
              <a:t>Données locales</a:t>
            </a:r>
            <a:br/>
            <a:r>
              <a:t>+ LoRA local</a:t>
            </a:r>
            <a:br/>
            <a:r>
              <a:t>+ Prompt domaine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50A0"/>
                </a:solidFill>
              </a:defRPr>
            </a:pPr>
            <a:r>
              <a:t>Innovation : Première combinaison LoRA dual (global + local) + prompts de domaine en FL pour séries temporelles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Contribution C2 : FedTS-Bench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505050"/>
                </a:solidFill>
              </a:defRPr>
            </a:pPr>
            <a:r>
              <a:t>Benchmark fédéré pour la maintenance industrielle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1371600"/>
          </a:xfrm>
          <a:prstGeom prst="roundRect">
            <a:avLst/>
          </a:prstGeom>
          <a:solidFill>
            <a:srgbClr val="E6F0FA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33333"/>
                </a:solidFill>
              </a:defRPr>
            </a:pPr>
            <a:r>
              <a:t>NASA C-MAPSS</a:t>
            </a:r>
          </a:p>
          <a:p>
            <a:br/>
            <a:pPr algn="ctr">
              <a:defRPr sz="1000">
                <a:solidFill>
                  <a:srgbClr val="505050"/>
                </a:solidFill>
              </a:defRPr>
            </a:pPr>
            <a:r>
              <a:t>Moteurs turbofan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28800"/>
            <a:ext cx="2651760" cy="1371600"/>
          </a:xfrm>
          <a:prstGeom prst="roundRect">
            <a:avLst/>
          </a:prstGeom>
          <a:solidFill>
            <a:srgbClr val="E6FAF0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33333"/>
                </a:solidFill>
              </a:defRPr>
            </a:pPr>
            <a:r>
              <a:t>CWRU</a:t>
            </a:r>
          </a:p>
          <a:p>
            <a:br/>
            <a:pPr algn="ctr">
              <a:defRPr sz="1000">
                <a:solidFill>
                  <a:srgbClr val="505050"/>
                </a:solidFill>
              </a:defRPr>
            </a:pPr>
            <a:r>
              <a:t>Roulements (bearing)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651760" cy="1371600"/>
          </a:xfrm>
          <a:prstGeom prst="roundRect">
            <a:avLst/>
          </a:prstGeom>
          <a:solidFill>
            <a:srgbClr val="FAF0E6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33333"/>
                </a:solidFill>
              </a:defRPr>
            </a:pPr>
            <a:r>
              <a:t>FEMTO-ST</a:t>
            </a:r>
          </a:p>
          <a:p>
            <a:br/>
            <a:pPr algn="ctr">
              <a:defRPr sz="1000">
                <a:solidFill>
                  <a:srgbClr val="505050"/>
                </a:solidFill>
              </a:defRPr>
            </a:pPr>
            <a:r>
              <a:t>Dégradation PRONOSTIA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828800"/>
            <a:ext cx="2651760" cy="1371600"/>
          </a:xfrm>
          <a:prstGeom prst="roundRect">
            <a:avLst/>
          </a:prstGeom>
          <a:solidFill>
            <a:srgbClr val="FFF5F0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33333"/>
                </a:solidFill>
              </a:defRPr>
            </a:pPr>
            <a:r>
              <a:t>SCADA Éoliennes</a:t>
            </a:r>
          </a:p>
          <a:p>
            <a:br/>
            <a:pPr algn="ctr">
              <a:defRPr sz="1000">
                <a:solidFill>
                  <a:srgbClr val="505050"/>
                </a:solidFill>
              </a:defRPr>
            </a:pPr>
            <a:r>
              <a:t>Données EDP Renewables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11247120" cy="1828800"/>
          </a:xfrm>
          <a:prstGeom prst="round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33333"/>
                </a:solidFill>
              </a:defRPr>
            </a:pPr>
            <a:r>
              <a:t>Propriétés du benchmark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Partitions non-IID réalistes simulant N clients industriels hétérogènes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Métriques adaptées : F1 pondéré, AUC-PR (classes déséquilibrées), variance de dérive, rounds à convergence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50A0"/>
                </a:solidFill>
              </a:defRPr>
            </a:pPr>
            <a:r>
              <a:t>Livrable : Splits de datasets + code d'évaluation open-source — première ressource communautaire de ce type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Contributions C3 &amp; C4 : Architecture et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3200400"/>
          </a:xfrm>
          <a:prstGeom prst="roundRect">
            <a:avLst/>
          </a:prstGeom>
          <a:solidFill>
            <a:srgbClr val="F0F8FF"/>
          </a:solidFill>
          <a:ln w="381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50A0"/>
                </a:solidFill>
              </a:defRPr>
            </a:pPr>
            <a:r>
              <a:t>C3 — FedTSFM-Arch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• Patching hiérarchique : Découpage adaptatif selon fréquence locale → réduction communication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• MoE sparse client-guidé : Experts activés par domaine client → spécialisation sans partage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• Mises à jour low-rank : LoRA sur query/key uniquement → réduction ×50 du volume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320040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B4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966428"/>
                </a:solidFill>
              </a:defRPr>
            </a:pPr>
            <a:r>
              <a:t>C4 — IndusFedFM</a:t>
            </a:r>
          </a:p>
          <a:p>
            <a:br/>
            <a:pPr>
              <a:defRPr sz="1200">
                <a:solidFill>
                  <a:srgbClr val="333333"/>
                </a:solidFill>
              </a:defRPr>
            </a:pPr>
            <a:r>
              <a:t>Validation sur 3 scénarios :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→ Intra-domaine : N clients éoliens hétérogènes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→ Cross-domaine : Éolien + HVAC + Manufacture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→ Cold-start : Nouveau client sans historique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846320"/>
            <a:ext cx="11247120" cy="15544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33333"/>
                </a:solidFill>
              </a:defRPr>
            </a:pPr>
            <a:r>
              <a:t>Vision d'ensemble — FedTSFM</a:t>
            </a:r>
          </a:p>
          <a:p>
            <a:br/>
            <a:pPr algn="ctr">
              <a:defRPr sz="1200">
                <a:solidFill>
                  <a:srgbClr val="505050"/>
                </a:solidFill>
              </a:defRPr>
            </a:pPr>
            <a:r>
              <a:t>C1 (méthode) + C2 (benchmark) + C3 (architecture) + C4 (validation)</a:t>
            </a:r>
          </a:p>
          <a:p>
            <a:br/>
            <a:pPr algn="ctr">
              <a:defRPr sz="1100" i="1">
                <a:solidFill>
                  <a:srgbClr val="1E50A0"/>
                </a:solidFill>
              </a:defRPr>
            </a:pPr>
            <a:r>
              <a:t>Un Foundation Model de séries temporelles entraînable de façon fédérée pour la maintenance prédictive multi-domaine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Plan de publication : 5 publications sur 3 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64008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463040"/>
            <a:ext cx="640080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Titre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463040"/>
            <a:ext cx="164592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463040"/>
            <a:ext cx="109728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0" y="1463040"/>
            <a:ext cx="1097280" cy="457200"/>
          </a:xfrm>
          <a:prstGeom prst="rect">
            <a:avLst/>
          </a:prstGeom>
          <a:solidFill>
            <a:srgbClr val="1E50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Année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640080" cy="731520"/>
          </a:xfrm>
          <a:prstGeom prst="rect">
            <a:avLst/>
          </a:prstGeom>
          <a:solidFill>
            <a:srgbClr val="E6F0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P0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011680"/>
            <a:ext cx="6400800" cy="731520"/>
          </a:xfrm>
          <a:prstGeom prst="rect">
            <a:avLst/>
          </a:prstGeom>
          <a:solidFill>
            <a:srgbClr val="E6F0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Data-Centric FL for Wind Turbine PdM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011680"/>
            <a:ext cx="1645920" cy="731520"/>
          </a:xfrm>
          <a:prstGeom prst="rect">
            <a:avLst/>
          </a:prstGeom>
          <a:solidFill>
            <a:srgbClr val="E6F0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Master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2011680"/>
            <a:ext cx="1097280" cy="731520"/>
          </a:xfrm>
          <a:prstGeom prst="rect">
            <a:avLst/>
          </a:prstGeom>
          <a:solidFill>
            <a:srgbClr val="E6F0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Journal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2011680"/>
            <a:ext cx="1097280" cy="731520"/>
          </a:xfrm>
          <a:prstGeom prst="rect">
            <a:avLst/>
          </a:prstGeom>
          <a:solidFill>
            <a:srgbClr val="E6F0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640080" cy="731520"/>
          </a:xfrm>
          <a:prstGeom prst="rect">
            <a:avLst/>
          </a:prstGeom>
          <a:solidFill>
            <a:srgbClr val="F0FA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P1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834640"/>
            <a:ext cx="6400800" cy="731520"/>
          </a:xfrm>
          <a:prstGeom prst="rect">
            <a:avLst/>
          </a:prstGeom>
          <a:solidFill>
            <a:srgbClr val="F0FA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Literature Review FL+TS FMs for Industrial Maintenance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834640"/>
            <a:ext cx="1645920" cy="731520"/>
          </a:xfrm>
          <a:prstGeom prst="rect">
            <a:avLst/>
          </a:prstGeom>
          <a:solidFill>
            <a:srgbClr val="F0FA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SLR (C1-C2)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834640"/>
            <a:ext cx="1097280" cy="731520"/>
          </a:xfrm>
          <a:prstGeom prst="rect">
            <a:avLst/>
          </a:prstGeom>
          <a:solidFill>
            <a:srgbClr val="F0FA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Journal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0" y="2834640"/>
            <a:ext cx="1097280" cy="731520"/>
          </a:xfrm>
          <a:prstGeom prst="rect">
            <a:avLst/>
          </a:prstGeom>
          <a:solidFill>
            <a:srgbClr val="F0FA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An 1-2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640080" cy="731520"/>
          </a:xfrm>
          <a:prstGeom prst="rect">
            <a:avLst/>
          </a:prstGeom>
          <a:solidFill>
            <a:srgbClr val="FAF5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P2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3657600"/>
            <a:ext cx="6400800" cy="731520"/>
          </a:xfrm>
          <a:prstGeom prst="rect">
            <a:avLst/>
          </a:prstGeom>
          <a:solidFill>
            <a:srgbClr val="FAF5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FedTS-Bench: A Federated Benchmark for Industrial 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657600"/>
            <a:ext cx="1645920" cy="731520"/>
          </a:xfrm>
          <a:prstGeom prst="rect">
            <a:avLst/>
          </a:prstGeom>
          <a:solidFill>
            <a:srgbClr val="FAF5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C2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3657600"/>
            <a:ext cx="1097280" cy="731520"/>
          </a:xfrm>
          <a:prstGeom prst="rect">
            <a:avLst/>
          </a:prstGeom>
          <a:solidFill>
            <a:srgbClr val="FAF5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Conférence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0" y="3657600"/>
            <a:ext cx="1097280" cy="731520"/>
          </a:xfrm>
          <a:prstGeom prst="rect">
            <a:avLst/>
          </a:prstGeom>
          <a:solidFill>
            <a:srgbClr val="FAF5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An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640080" cy="731520"/>
          </a:xfrm>
          <a:prstGeom prst="rect">
            <a:avLst/>
          </a:prstGeom>
          <a:solidFill>
            <a:srgbClr val="FF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05050"/>
                </a:solidFill>
              </a:defRPr>
            </a:pPr>
            <a:r>
              <a:t>P3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4480560"/>
            <a:ext cx="6400800" cy="731520"/>
          </a:xfrm>
          <a:prstGeom prst="rect">
            <a:avLst/>
          </a:prstGeom>
          <a:solidFill>
            <a:srgbClr val="FF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05050"/>
                </a:solidFill>
              </a:defRPr>
            </a:pPr>
            <a:r>
              <a:t>FedTSFM-Arch: A Federation-Native TS FM 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480560"/>
            <a:ext cx="1645920" cy="731520"/>
          </a:xfrm>
          <a:prstGeom prst="rect">
            <a:avLst/>
          </a:prstGeom>
          <a:solidFill>
            <a:srgbClr val="FF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05050"/>
                </a:solidFill>
              </a:defRPr>
            </a:pPr>
            <a:r>
              <a:t>C3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4480560"/>
            <a:ext cx="1097280" cy="731520"/>
          </a:xfrm>
          <a:prstGeom prst="rect">
            <a:avLst/>
          </a:prstGeom>
          <a:solidFill>
            <a:srgbClr val="FF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05050"/>
                </a:solidFill>
              </a:defRPr>
            </a:pPr>
            <a:r>
              <a:t>Journal Q1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0" y="4480560"/>
            <a:ext cx="1097280" cy="731520"/>
          </a:xfrm>
          <a:prstGeom prst="rect">
            <a:avLst/>
          </a:prstGeom>
          <a:solidFill>
            <a:srgbClr val="FF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05050"/>
                </a:solidFill>
              </a:defRPr>
            </a:pPr>
            <a:r>
              <a:t>An 2-3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03520"/>
            <a:ext cx="640080" cy="731520"/>
          </a:xfrm>
          <a:prstGeom prst="rect">
            <a:avLst/>
          </a:prstGeom>
          <a:solidFill>
            <a:srgbClr val="FFF5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05050"/>
                </a:solidFill>
              </a:defRPr>
            </a:pPr>
            <a:r>
              <a:t>P4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0" y="5303520"/>
            <a:ext cx="6400800" cy="731520"/>
          </a:xfrm>
          <a:prstGeom prst="rect">
            <a:avLst/>
          </a:prstGeom>
          <a:solidFill>
            <a:srgbClr val="FFF5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05050"/>
                </a:solidFill>
              </a:defRPr>
            </a:pPr>
            <a:r>
              <a:t>IndusFedFM: Multi-Domain Federated TS FMs for PM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5303520"/>
            <a:ext cx="1645920" cy="731520"/>
          </a:xfrm>
          <a:prstGeom prst="rect">
            <a:avLst/>
          </a:prstGeom>
          <a:solidFill>
            <a:srgbClr val="FFF5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05050"/>
                </a:solidFill>
              </a:defRPr>
            </a:pPr>
            <a:r>
              <a:t>C4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5303520"/>
            <a:ext cx="1097280" cy="731520"/>
          </a:xfrm>
          <a:prstGeom prst="rect">
            <a:avLst/>
          </a:prstGeom>
          <a:solidFill>
            <a:srgbClr val="FFF5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05050"/>
                </a:solidFill>
              </a:defRPr>
            </a:pPr>
            <a:r>
              <a:t>Journal Q1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89920" y="5303520"/>
            <a:ext cx="1097280" cy="731520"/>
          </a:xfrm>
          <a:prstGeom prst="rect">
            <a:avLst/>
          </a:prstGeom>
          <a:solidFill>
            <a:srgbClr val="FFF5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05050"/>
                </a:solidFill>
              </a:defRPr>
            </a:pPr>
            <a:r>
              <a:t>An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Stratégie : P0 (Master) + P1 (SLR) dès que possible → P2 (conférence) → P3/P4 (journaux Q1 majeurs)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Fil narratif de la thèse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7315200" cy="822960"/>
          </a:xfrm>
          <a:prstGeom prst="roundRect">
            <a:avLst/>
          </a:prstGeom>
          <a:solidFill>
            <a:srgbClr val="C8C8C8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P0 (Master) — Data-Centric FL for Wind Turbine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1554480"/>
            <a:ext cx="18288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Année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13716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Master</a:t>
            </a:r>
          </a:p>
        </p:txBody>
      </p:sp>
      <p:sp>
        <p:nvSpPr>
          <p:cNvPr id="7" name="Down Arrow 6"/>
          <p:cNvSpPr/>
          <p:nvPr/>
        </p:nvSpPr>
        <p:spPr>
          <a:xfrm>
            <a:off x="5212080" y="2194560"/>
            <a:ext cx="548640" cy="274320"/>
          </a:xfrm>
          <a:prstGeom prst="downArrow">
            <a:avLst/>
          </a:prstGeom>
          <a:solidFill>
            <a:srgbClr val="1E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2377440"/>
            <a:ext cx="7315200" cy="822960"/>
          </a:xfrm>
          <a:prstGeom prst="roundRect">
            <a:avLst/>
          </a:prstGeom>
          <a:solidFill>
            <a:srgbClr val="B4C8DC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P1 (SLR) — Literature Review — Identifier les gaps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560320"/>
            <a:ext cx="18288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Années 1-2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60320"/>
            <a:ext cx="13716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C1-C2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212080" y="3200400"/>
            <a:ext cx="548640" cy="274320"/>
          </a:xfrm>
          <a:prstGeom prst="downArrow">
            <a:avLst/>
          </a:prstGeom>
          <a:solidFill>
            <a:srgbClr val="1E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800" y="3383280"/>
            <a:ext cx="7315200" cy="822960"/>
          </a:xfrm>
          <a:prstGeom prst="roundRect">
            <a:avLst/>
          </a:prstGeom>
          <a:solidFill>
            <a:srgbClr val="C8DCC8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P2 (Benchmark) — FedTS-Bench — Verrou expérimental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3566160"/>
            <a:ext cx="18288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Année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566160"/>
            <a:ext cx="13716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C2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212080" y="4206240"/>
            <a:ext cx="548640" cy="274320"/>
          </a:xfrm>
          <a:prstGeom prst="downArrow">
            <a:avLst/>
          </a:prstGeom>
          <a:solidFill>
            <a:srgbClr val="1E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4389120"/>
            <a:ext cx="7315200" cy="822960"/>
          </a:xfrm>
          <a:prstGeom prst="roundRect">
            <a:avLst/>
          </a:prstGeom>
          <a:solidFill>
            <a:srgbClr val="DCC8B4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P3 (Architecture) — FedTSFM-Arch — Verrou architectural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4572000"/>
            <a:ext cx="18288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Années 2-3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572000"/>
            <a:ext cx="13716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C3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212080" y="5212080"/>
            <a:ext cx="548640" cy="274320"/>
          </a:xfrm>
          <a:prstGeom prst="downArrow">
            <a:avLst/>
          </a:prstGeom>
          <a:solidFill>
            <a:srgbClr val="1E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28800" y="5394960"/>
            <a:ext cx="7315200" cy="822960"/>
          </a:xfrm>
          <a:prstGeom prst="roundRect">
            <a:avLst/>
          </a:prstGeom>
          <a:solidFill>
            <a:srgbClr val="DCB4B4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505050"/>
                </a:solidFill>
              </a:defRPr>
            </a:pPr>
            <a:r>
              <a:t>P4 (Validation) — IndusFedFM — Preuve industrielle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5577840"/>
            <a:ext cx="18288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Année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5577840"/>
            <a:ext cx="1371600" cy="4572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C4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Conférences et journaux ciblés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320040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E50A0"/>
                </a:solidFill>
              </a:defRPr>
            </a:pPr>
            <a:r>
              <a:t>Conférences A* (soumissions rapides)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NeurIPS — TS FMs + méthodes FL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ICML — Architecture + PEFT fédéré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ICLR — FL + Foundation Models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KDD — Benchmark + application industrielle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AAAI — FL personnalisé séries temporelles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3200400"/>
          </a:xfrm>
          <a:prstGeom prst="roundRect">
            <a:avLst/>
          </a:prstGeom>
          <a:solidFill>
            <a:srgbClr val="FFFAF0"/>
          </a:solidFill>
          <a:ln>
            <a:solidFill>
              <a:srgbClr val="B47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966428"/>
                </a:solidFill>
              </a:defRPr>
            </a:pPr>
            <a:r>
              <a:t>Journaux Q1 (contributions majeures)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Neurocomputing — Gratuit, Q1, 28% acc.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IEEE Trans. Industrial Electronics — Q1, 28% acc.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Machine Learning (Springer) — Gratuit, Q1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JMLR — Diamond OA, Q1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• Pattern Recognition Letters — Q2, rapide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33333"/>
                </a:solidFill>
              </a:defRPr>
            </a:pPr>
            <a:r>
              <a:t>Stratégie de matching publications/cibles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• P1 (SLR) → Machine Learning / JMLR / Neurocomputing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• P2 (Benchmark) → Pattern Recognition Letters / Conférence KDD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• P3 (Architecture) → Neurocomputing / JMLR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• P4 (Industriel) → IEEE Trans. Industrial Electronics / IEEE T-ASE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Calendrier prévisionnel et priorités immédiates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FFF5F0"/>
          </a:solidFill>
          <a:ln w="25400">
            <a:solidFill>
              <a:srgbClr val="B4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965032"/>
                </a:solidFill>
              </a:defRPr>
            </a:pPr>
            <a:r>
              <a:t>Priorités immédiates (2025-2026)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→ Débloquer article Master : correction pipeline SCADA, débogage FedProx</a:t>
            </a:r>
          </a:p>
          <a:p>
            <a:pPr>
              <a:defRPr sz="1100">
                <a:solidFill>
                  <a:srgbClr val="505050"/>
                </a:solidFill>
              </a:defRPr>
            </a:pPr>
            <a:r>
              <a:t>→ Commencer SLR : formalisation PRISMA, structuration des 181 articles retenus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17520"/>
            <a:ext cx="2286000" cy="548640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 1, 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3017520"/>
            <a:ext cx="5943600" cy="548640"/>
          </a:xfrm>
          <a:prstGeom prst="round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Finaliser P0 — SLR — Prototypage C1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3017520"/>
            <a:ext cx="265176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E50A0"/>
                </a:solidFill>
              </a:defRPr>
            </a:pPr>
            <a:r>
              <a:t>P0 soumis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2286000" cy="548640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 1, S2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3657600"/>
            <a:ext cx="5943600" cy="548640"/>
          </a:xfrm>
          <a:prstGeom prst="round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Expériences C1 — Construction C2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657600"/>
            <a:ext cx="265176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E50A0"/>
                </a:solidFill>
              </a:defRPr>
            </a:pPr>
            <a:r>
              <a:t>P1 soumis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2286000" cy="548640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 2, S1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4297680"/>
            <a:ext cx="5943600" cy="548640"/>
          </a:xfrm>
          <a:prstGeom prst="round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Finaliser C2 — Début C3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4297680"/>
            <a:ext cx="265176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E50A0"/>
                </a:solidFill>
              </a:defRPr>
            </a:pPr>
            <a:r>
              <a:t>P2 soumis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37760"/>
            <a:ext cx="2286000" cy="548640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 2, S2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937760"/>
            <a:ext cx="5943600" cy="548640"/>
          </a:xfrm>
          <a:prstGeom prst="round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Expériences C3 — Rédaction P3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4937760"/>
            <a:ext cx="265176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E50A0"/>
                </a:solidFill>
              </a:defRPr>
            </a:pPr>
            <a:r>
              <a:t>P3 soumis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577840"/>
            <a:ext cx="2286000" cy="548640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 3, S1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5577840"/>
            <a:ext cx="5943600" cy="548640"/>
          </a:xfrm>
          <a:prstGeom prst="round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Déploiement C4 — Multi-domaines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5577840"/>
            <a:ext cx="265176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E50A0"/>
                </a:solidFill>
              </a:defRPr>
            </a:pPr>
            <a:r>
              <a:t>Données C4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217920"/>
            <a:ext cx="2286000" cy="548640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An 3, S2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6217920"/>
            <a:ext cx="5943600" cy="548640"/>
          </a:xfrm>
          <a:prstGeom prst="round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05050"/>
                </a:solidFill>
              </a:defRPr>
            </a:pPr>
            <a:r>
              <a:t>Rédaction P4 — Thèse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6217920"/>
            <a:ext cx="2651760" cy="548640"/>
          </a:xfrm>
          <a:prstGeom prst="roundRect">
            <a:avLst/>
          </a:prstGeom>
          <a:solidFill>
            <a:srgbClr val="F0F8FF"/>
          </a:solidFill>
          <a:ln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E50A0"/>
                </a:solidFill>
              </a:defRPr>
            </a:pPr>
            <a:r>
              <a:t>P4 + Soutenance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</a:defRPr>
            </a:pPr>
            <a:r>
              <a:t>Points d'attention : article Master bloqué sur résultats — calendrier réaliste si focus maintenu sur recherche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